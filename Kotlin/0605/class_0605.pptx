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96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179758-382A-61DB-90C3-C4902B5836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4835177-8595-5811-E151-D1A2B83983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D58F46A-8F36-627E-40B3-FF8F5AFA9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11B9-48C3-4C91-BFF5-D9E0287C1EA3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B88B7D8-64B2-367D-98EF-89BB1E6A8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9A4317E-B714-636D-57BB-FEEA02A80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B1D6E-441F-4A71-9886-60CB693EDF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7283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3F35AF-3EE4-7D4D-D878-65842A58F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4138AD2-2702-406A-DC8B-C05F58DFB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B2C6C07-73B8-0839-9305-5218E4FA4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11B9-48C3-4C91-BFF5-D9E0287C1EA3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AA9A228-50EA-373F-A69D-C52310FF4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DCA3B7C-D1A8-11CE-CC15-4CAE4C060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B1D6E-441F-4A71-9886-60CB693EDF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519085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8D9FA23-4F4C-AC84-2167-43B43D7BA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5186DD-F842-32C3-57B0-328DF11E08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D9BC3C5-B41C-D67C-CC55-14E160F49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11B9-48C3-4C91-BFF5-D9E0287C1EA3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A125DB2-AC9D-8E00-CF23-FA19B5CD1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E8A168-B0DB-1D63-F02C-D033373E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B1D6E-441F-4A71-9886-60CB693EDF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55152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7699740-3FD6-EC67-E325-C6703E9B7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5B9779F-B372-6814-25B0-02FDE59EC7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C0E58C1-398E-7047-AD78-5BCB7B4C6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16CD787B-5C9D-72DC-6C02-03BACE2BE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11B9-48C3-4C91-BFF5-D9E0287C1EA3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401F09E-AA88-C3CA-F93D-20C4C5470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59CCAD5B-F286-E2AC-CDA6-D1C26B7C0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B1D6E-441F-4A71-9886-60CB693EDF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3469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6AB9BF-35C4-4AEB-73A1-F2C9EE1197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53BD798-0938-7480-3163-000C0178AD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6538F65-DE92-845E-648D-043F4E896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D6BA782-3AF8-CBFA-9862-1DB02DFDC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9EE9B99-8BA8-FDD2-CABF-F9C06B8D60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5029374-E2B6-FB42-7824-F962E465A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11B9-48C3-4C91-BFF5-D9E0287C1EA3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92EAF05-5063-22D2-B664-40F6D8DC8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DB3D3E3E-95EB-C4C9-EEF2-D66EDE090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B1D6E-441F-4A71-9886-60CB693EDF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9094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C8EC41-6EA1-6E56-8064-5537A314C7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750AA19-9C07-E874-200A-DC01B77FF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11B9-48C3-4C91-BFF5-D9E0287C1EA3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286468E-3C51-64A9-B752-17B07664A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D9E82BC-3D26-F70C-51C5-FE2ABA4C9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B1D6E-441F-4A71-9886-60CB693EDF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9005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8880F77-0814-3D14-70D2-4FA262650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11B9-48C3-4C91-BFF5-D9E0287C1EA3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EADBCA3-15C0-80A0-6ED0-0305A914A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50EA635-9110-57C7-C908-FD0333593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B1D6E-441F-4A71-9886-60CB693EDF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3318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252D6B-3C89-0058-5E3C-18E66C06A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91DE528-5461-D7FE-C2AF-CC883BE32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D4FCA85-47C4-0E91-A37F-13887EFE0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39C45A7-DF43-FD09-EB67-DA55A6AB7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11B9-48C3-4C91-BFF5-D9E0287C1EA3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8F89DE7-9264-26B0-551D-F515874A7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3FE2A64-7245-2403-2355-33425B057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B1D6E-441F-4A71-9886-60CB693EDF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34914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CC1858-692A-3921-D9CB-F357E7850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9BD0664-3080-C02A-C33B-556CB596BE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D5398AE-96EB-8899-66AC-444F1C3C5D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F5ADEE6-4DA2-8BFE-6B1D-5C8031915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11B9-48C3-4C91-BFF5-D9E0287C1EA3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1867C14-F729-8C69-E6E4-077F51E0C4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42EF49-64D4-703F-432E-1719963C8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B1D6E-441F-4A71-9886-60CB693EDF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2983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473998-DFD7-327D-4500-A82E26504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49CF170-0CF4-8ADA-DF0B-10F9ECA720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3D0CBB4-364B-7652-B899-EB3763FD4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11B9-48C3-4C91-BFF5-D9E0287C1EA3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15FAFF-F93F-17AE-E199-159D15612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2AC6AAB-CD06-9278-317B-2F97DE9F6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B1D6E-441F-4A71-9886-60CB693EDF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83235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10B06C3-4FB4-2CC1-4EE1-FEB3CD934F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46A3F9D-7846-5870-3AC1-78BAF7FB8F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0E891D-959A-2B21-FB9F-C995F40DD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11B9-48C3-4C91-BFF5-D9E0287C1EA3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7F20105-860A-B883-04A4-4A27FB6DF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EF64526-B123-52F6-D5FF-94C38BECC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8B1D6E-441F-4A71-9886-60CB693EDF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330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7DD26F7-FD29-6B87-785D-6DE883079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46B02F-A95F-CE99-F526-196E55DC3C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AC3EC07-2A17-E1AD-757D-B3CE937961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1711B9-48C3-4C91-BFF5-D9E0287C1EA3}" type="datetimeFigureOut">
              <a:rPr lang="zh-TW" altLang="en-US" smtClean="0"/>
              <a:t>2026/6/5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D376AA-9D6A-5600-09D0-002E7E2BBF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3B55981-B6A7-C006-6494-4919C2270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8B1D6E-441F-4A71-9886-60CB693EDF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8773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6994EAE-8DE3-7796-2234-69640950243C}"/>
              </a:ext>
            </a:extLst>
          </p:cNvPr>
          <p:cNvSpPr txBox="1"/>
          <p:nvPr/>
        </p:nvSpPr>
        <p:spPr>
          <a:xfrm>
            <a:off x="826167" y="818147"/>
            <a:ext cx="6849979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Lambda </a:t>
            </a:r>
          </a:p>
          <a:p>
            <a:r>
              <a:rPr lang="en-US" altLang="zh-TW" dirty="0"/>
              <a:t>(1) : {</a:t>
            </a:r>
            <a:r>
              <a:rPr lang="zh-TW" altLang="en-US" dirty="0"/>
              <a:t>參數</a:t>
            </a:r>
            <a:r>
              <a:rPr lang="en-US" altLang="zh-TW" dirty="0"/>
              <a:t>1:datatype,</a:t>
            </a:r>
            <a:r>
              <a:rPr lang="zh-TW" altLang="en-US" dirty="0"/>
              <a:t>參數</a:t>
            </a:r>
            <a:r>
              <a:rPr lang="en-US" altLang="zh-TW" dirty="0"/>
              <a:t>2:datatype -&gt;</a:t>
            </a:r>
          </a:p>
          <a:p>
            <a:r>
              <a:rPr lang="en-US" altLang="zh-TW" dirty="0"/>
              <a:t>	</a:t>
            </a:r>
            <a:r>
              <a:rPr lang="zh-TW" altLang="en-US" dirty="0"/>
              <a:t>程式碼</a:t>
            </a:r>
            <a:endParaRPr lang="en-US" altLang="zh-TW" dirty="0"/>
          </a:p>
          <a:p>
            <a:r>
              <a:rPr lang="zh-TW" altLang="en-US" dirty="0"/>
              <a:t>      如果有回傳值，最後一個指令為回傳的資料，沒有</a:t>
            </a:r>
            <a:r>
              <a:rPr lang="en-US" altLang="zh-TW" dirty="0"/>
              <a:t>return.</a:t>
            </a:r>
          </a:p>
          <a:p>
            <a:r>
              <a:rPr lang="en-US" altLang="zh-TW" dirty="0"/>
              <a:t>      }</a:t>
            </a:r>
          </a:p>
          <a:p>
            <a:r>
              <a:rPr lang="en-US" altLang="zh-TW" dirty="0"/>
              <a:t>(2)</a:t>
            </a:r>
            <a:r>
              <a:rPr lang="zh-TW" altLang="en-US" dirty="0"/>
              <a:t>可以用一個變數去等於一個</a:t>
            </a:r>
            <a:r>
              <a:rPr lang="en-US" altLang="zh-TW" dirty="0"/>
              <a:t>Lambda.</a:t>
            </a:r>
          </a:p>
          <a:p>
            <a:r>
              <a:rPr lang="en-US" altLang="zh-TW" dirty="0"/>
              <a:t>     </a:t>
            </a:r>
            <a:r>
              <a:rPr lang="zh-TW" altLang="en-US" dirty="0"/>
              <a:t>此變數的資料型態為匿名函式</a:t>
            </a:r>
            <a:endParaRPr lang="en-US" altLang="zh-TW" dirty="0"/>
          </a:p>
          <a:p>
            <a:r>
              <a:rPr lang="en-US" altLang="zh-TW" dirty="0"/>
              <a:t>	</a:t>
            </a:r>
            <a:r>
              <a:rPr lang="en-US" altLang="zh-TW" dirty="0" err="1"/>
              <a:t>val</a:t>
            </a:r>
            <a:r>
              <a:rPr lang="en-US" altLang="zh-TW" dirty="0"/>
              <a:t> </a:t>
            </a:r>
            <a:r>
              <a:rPr lang="zh-TW" altLang="en-US" dirty="0"/>
              <a:t>變數名稱 </a:t>
            </a:r>
            <a:r>
              <a:rPr lang="en-US" altLang="zh-TW" dirty="0"/>
              <a:t>: </a:t>
            </a:r>
            <a:r>
              <a:rPr lang="zh-TW" altLang="en-US" dirty="0"/>
              <a:t>匿名函式宣告 </a:t>
            </a:r>
            <a:r>
              <a:rPr lang="en-US" altLang="zh-TW" dirty="0"/>
              <a:t>= { Lambda}</a:t>
            </a:r>
          </a:p>
          <a:p>
            <a:endParaRPr lang="en-US" altLang="zh-TW" dirty="0"/>
          </a:p>
          <a:p>
            <a:r>
              <a:rPr lang="en-US" altLang="zh-TW" dirty="0"/>
              <a:t>(3)</a:t>
            </a:r>
            <a:r>
              <a:rPr lang="zh-TW" altLang="en-US" dirty="0"/>
              <a:t>匿名函式宣告，可能是</a:t>
            </a:r>
            <a:endParaRPr lang="en-US" altLang="zh-TW" dirty="0"/>
          </a:p>
          <a:p>
            <a:r>
              <a:rPr lang="zh-TW" altLang="en-US" dirty="0"/>
              <a:t>      </a:t>
            </a:r>
            <a:r>
              <a:rPr lang="en-US" altLang="zh-TW" dirty="0"/>
              <a:t>a. ( ) -&gt;Unit</a:t>
            </a:r>
          </a:p>
          <a:p>
            <a:r>
              <a:rPr lang="en-US" altLang="zh-TW" dirty="0"/>
              <a:t>      b.(Int) </a:t>
            </a:r>
            <a:r>
              <a:rPr lang="en-US" altLang="zh-TW" dirty="0">
                <a:sym typeface="Wingdings" panose="05000000000000000000" pitchFamily="2" charset="2"/>
              </a:rPr>
              <a:t>–&gt; Int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      c.(</a:t>
            </a:r>
            <a:r>
              <a:rPr lang="en-US" altLang="zh-TW" dirty="0" err="1">
                <a:sym typeface="Wingdings" panose="05000000000000000000" pitchFamily="2" charset="2"/>
              </a:rPr>
              <a:t>String,Int</a:t>
            </a:r>
            <a:r>
              <a:rPr lang="en-US" altLang="zh-TW" dirty="0">
                <a:sym typeface="Wingdings" panose="05000000000000000000" pitchFamily="2" charset="2"/>
              </a:rPr>
              <a:t>) -&gt; String   // 2</a:t>
            </a:r>
            <a:r>
              <a:rPr lang="zh-TW" altLang="en-US" dirty="0">
                <a:sym typeface="Wingdings" panose="05000000000000000000" pitchFamily="2" charset="2"/>
              </a:rPr>
              <a:t>個參數，一個回傳值</a:t>
            </a:r>
            <a:endParaRPr lang="en-US" altLang="zh-TW" dirty="0">
              <a:sym typeface="Wingdings" panose="05000000000000000000" pitchFamily="2" charset="2"/>
            </a:endParaRPr>
          </a:p>
          <a:p>
            <a:endParaRPr lang="en-US" altLang="zh-TW" dirty="0">
              <a:sym typeface="Wingdings" panose="05000000000000000000" pitchFamily="2" charset="2"/>
            </a:endParaRPr>
          </a:p>
          <a:p>
            <a:r>
              <a:rPr lang="en-US" altLang="zh-TW" dirty="0">
                <a:sym typeface="Wingdings" panose="05000000000000000000" pitchFamily="2" charset="2"/>
              </a:rPr>
              <a:t>(4)</a:t>
            </a:r>
            <a:r>
              <a:rPr lang="zh-TW" altLang="en-US" dirty="0">
                <a:sym typeface="Wingdings" panose="05000000000000000000" pitchFamily="2" charset="2"/>
              </a:rPr>
              <a:t>變數為匿名</a:t>
            </a:r>
            <a:r>
              <a:rPr lang="zh-TW" altLang="en-US" u="dottedHeavy" dirty="0">
                <a:sym typeface="Wingdings" panose="05000000000000000000" pitchFamily="2" charset="2"/>
              </a:rPr>
              <a:t>函式</a:t>
            </a:r>
            <a:r>
              <a:rPr lang="zh-TW" altLang="en-US" dirty="0">
                <a:sym typeface="Wingdings" panose="05000000000000000000" pitchFamily="2" charset="2"/>
              </a:rPr>
              <a:t>時，呼叫時要帶入</a:t>
            </a:r>
            <a:r>
              <a:rPr lang="zh-TW" altLang="en-US" u="dottedHeavy" dirty="0">
                <a:sym typeface="Wingdings" panose="05000000000000000000" pitchFamily="2" charset="2"/>
              </a:rPr>
              <a:t>函式</a:t>
            </a:r>
            <a:r>
              <a:rPr lang="en-US" altLang="zh-TW" dirty="0">
                <a:sym typeface="Wingdings" panose="05000000000000000000" pitchFamily="2" charset="2"/>
              </a:rPr>
              <a:t>.</a:t>
            </a:r>
          </a:p>
          <a:p>
            <a:r>
              <a:rPr lang="zh-TW" altLang="en-US" dirty="0">
                <a:sym typeface="Wingdings" panose="05000000000000000000" pitchFamily="2" charset="2"/>
              </a:rPr>
              <a:t>     </a:t>
            </a:r>
            <a:r>
              <a:rPr lang="en-US" altLang="zh-TW" dirty="0">
                <a:sym typeface="Wingdings" panose="05000000000000000000" pitchFamily="2" charset="2"/>
              </a:rPr>
              <a:t>ex :</a:t>
            </a:r>
          </a:p>
          <a:p>
            <a:r>
              <a:rPr lang="zh-TW" altLang="en-US" dirty="0">
                <a:sym typeface="Wingdings" panose="05000000000000000000" pitchFamily="2" charset="2"/>
              </a:rPr>
              <a:t>            </a:t>
            </a:r>
            <a:r>
              <a:rPr lang="en-US" altLang="zh-TW" dirty="0" err="1">
                <a:sym typeface="Wingdings" panose="05000000000000000000" pitchFamily="2" charset="2"/>
              </a:rPr>
              <a:t>val</a:t>
            </a:r>
            <a:r>
              <a:rPr lang="en-US" altLang="zh-TW" dirty="0">
                <a:sym typeface="Wingdings" panose="05000000000000000000" pitchFamily="2" charset="2"/>
              </a:rPr>
              <a:t> data = </a:t>
            </a:r>
            <a:r>
              <a:rPr lang="zh-TW" altLang="en-US" dirty="0">
                <a:sym typeface="Wingdings" panose="05000000000000000000" pitchFamily="2" charset="2"/>
              </a:rPr>
              <a:t>變數名稱</a:t>
            </a:r>
            <a:r>
              <a:rPr lang="en-US" altLang="zh-TW" dirty="0">
                <a:sym typeface="Wingdings" panose="05000000000000000000" pitchFamily="2" charset="2"/>
              </a:rPr>
              <a:t>(</a:t>
            </a:r>
            <a:r>
              <a:rPr lang="zh-TW" altLang="en-US" dirty="0">
                <a:sym typeface="Wingdings" panose="05000000000000000000" pitchFamily="2" charset="2"/>
              </a:rPr>
              <a:t>引數</a:t>
            </a:r>
            <a:r>
              <a:rPr lang="en-US" altLang="zh-TW" dirty="0">
                <a:sym typeface="Wingdings" panose="05000000000000000000" pitchFamily="2" charset="2"/>
              </a:rPr>
              <a:t>1, </a:t>
            </a:r>
            <a:r>
              <a:rPr lang="zh-TW" altLang="en-US" dirty="0">
                <a:sym typeface="Wingdings" panose="05000000000000000000" pitchFamily="2" charset="2"/>
              </a:rPr>
              <a:t>引數</a:t>
            </a:r>
            <a:r>
              <a:rPr lang="en-US" altLang="zh-TW" dirty="0">
                <a:sym typeface="Wingdings" panose="05000000000000000000" pitchFamily="2" charset="2"/>
              </a:rPr>
              <a:t>2)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207356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B6994EAE-8DE3-7796-2234-69640950243C}"/>
              </a:ext>
            </a:extLst>
          </p:cNvPr>
          <p:cNvSpPr txBox="1"/>
          <p:nvPr/>
        </p:nvSpPr>
        <p:spPr>
          <a:xfrm>
            <a:off x="826167" y="818147"/>
            <a:ext cx="6849979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Lambda </a:t>
            </a:r>
            <a:r>
              <a:rPr lang="zh-TW" altLang="en-US" dirty="0"/>
              <a:t>的使用 </a:t>
            </a:r>
            <a:r>
              <a:rPr lang="en-US" altLang="zh-TW" dirty="0"/>
              <a:t>Ex :</a:t>
            </a:r>
          </a:p>
          <a:p>
            <a:r>
              <a:rPr lang="en-US" altLang="zh-TW" dirty="0"/>
              <a:t>(1) : </a:t>
            </a:r>
            <a:r>
              <a:rPr lang="zh-TW" altLang="en-US" dirty="0"/>
              <a:t>隨時建一個簡單的函式</a:t>
            </a:r>
            <a:endParaRPr lang="en-US" altLang="zh-TW" dirty="0"/>
          </a:p>
          <a:p>
            <a:r>
              <a:rPr lang="en-US" altLang="zh-TW" dirty="0"/>
              <a:t>(2)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當作引數傳入函式</a:t>
            </a:r>
            <a:endParaRPr lang="en-US" altLang="zh-TW" dirty="0"/>
          </a:p>
          <a:p>
            <a:r>
              <a:rPr lang="en-US" altLang="zh-TW" dirty="0"/>
              <a:t>(3)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當作函式的回傳值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Ex2 : fun Fun_1(lam:</a:t>
            </a:r>
            <a:r>
              <a:rPr lang="zh-TW" altLang="en-US" dirty="0"/>
              <a:t>匿名函式宣告</a:t>
            </a:r>
            <a:r>
              <a:rPr lang="en-US" altLang="zh-TW" dirty="0"/>
              <a:t>):</a:t>
            </a:r>
            <a:r>
              <a:rPr lang="zh-TW" altLang="en-US" dirty="0"/>
              <a:t>回傳值</a:t>
            </a:r>
            <a:endParaRPr lang="en-US" altLang="zh-TW" dirty="0"/>
          </a:p>
          <a:p>
            <a:r>
              <a:rPr lang="zh-TW" altLang="en-US" dirty="0"/>
              <a:t>      </a:t>
            </a:r>
            <a:r>
              <a:rPr lang="en-US" altLang="zh-TW" dirty="0"/>
              <a:t>{</a:t>
            </a:r>
          </a:p>
          <a:p>
            <a:r>
              <a:rPr lang="zh-TW" altLang="en-US" dirty="0"/>
              <a:t>          </a:t>
            </a:r>
            <a:r>
              <a:rPr lang="en-US" altLang="zh-TW" dirty="0" err="1">
                <a:sym typeface="Wingdings" panose="05000000000000000000" pitchFamily="2" charset="2"/>
              </a:rPr>
              <a:t>val</a:t>
            </a:r>
            <a:r>
              <a:rPr lang="en-US" altLang="zh-TW" dirty="0">
                <a:sym typeface="Wingdings" panose="05000000000000000000" pitchFamily="2" charset="2"/>
              </a:rPr>
              <a:t> </a:t>
            </a:r>
            <a:r>
              <a:rPr lang="zh-TW" altLang="en-US" dirty="0">
                <a:sym typeface="Wingdings" panose="05000000000000000000" pitchFamily="2" charset="2"/>
              </a:rPr>
              <a:t>結果</a:t>
            </a:r>
            <a:r>
              <a:rPr lang="en-US" altLang="zh-TW" dirty="0">
                <a:sym typeface="Wingdings" panose="05000000000000000000" pitchFamily="2" charset="2"/>
              </a:rPr>
              <a:t> =(lam : </a:t>
            </a:r>
            <a:r>
              <a:rPr lang="zh-TW" altLang="en-US" dirty="0">
                <a:sym typeface="Wingdings" panose="05000000000000000000" pitchFamily="2" charset="2"/>
              </a:rPr>
              <a:t>引數</a:t>
            </a:r>
            <a:r>
              <a:rPr lang="en-US" altLang="zh-TW" dirty="0">
                <a:sym typeface="Wingdings" panose="05000000000000000000" pitchFamily="2" charset="2"/>
              </a:rPr>
              <a:t>1, ….)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                 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	return </a:t>
            </a:r>
            <a:r>
              <a:rPr lang="zh-TW" altLang="en-US" dirty="0">
                <a:sym typeface="Wingdings" panose="05000000000000000000" pitchFamily="2" charset="2"/>
              </a:rPr>
              <a:t>回傳</a:t>
            </a:r>
            <a:r>
              <a:rPr lang="en-US" altLang="zh-TW" dirty="0">
                <a:sym typeface="Wingdings" panose="05000000000000000000" pitchFamily="2" charset="2"/>
              </a:rPr>
              <a:t>data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}</a:t>
            </a:r>
          </a:p>
          <a:p>
            <a:endParaRPr lang="en-US" altLang="zh-TW" dirty="0">
              <a:sym typeface="Wingdings" panose="05000000000000000000" pitchFamily="2" charset="2"/>
            </a:endParaRPr>
          </a:p>
          <a:p>
            <a:r>
              <a:rPr lang="en-US" altLang="zh-TW" dirty="0">
                <a:sym typeface="Wingdings" panose="05000000000000000000" pitchFamily="2" charset="2"/>
              </a:rPr>
              <a:t>Main(){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	</a:t>
            </a:r>
            <a:r>
              <a:rPr lang="en-US" altLang="zh-TW" dirty="0" err="1">
                <a:sym typeface="Wingdings" panose="05000000000000000000" pitchFamily="2" charset="2"/>
              </a:rPr>
              <a:t>val</a:t>
            </a:r>
            <a:r>
              <a:rPr lang="en-US" altLang="zh-TW" dirty="0">
                <a:sym typeface="Wingdings" panose="05000000000000000000" pitchFamily="2" charset="2"/>
              </a:rPr>
              <a:t> data = Fun_1() {Lambda………}</a:t>
            </a:r>
          </a:p>
          <a:p>
            <a:endParaRPr lang="en-US" altLang="zh-TW" dirty="0">
              <a:sym typeface="Wingdings" panose="05000000000000000000" pitchFamily="2" charset="2"/>
            </a:endParaRPr>
          </a:p>
          <a:p>
            <a:r>
              <a:rPr lang="en-US" altLang="zh-TW" dirty="0">
                <a:sym typeface="Wingdings" panose="05000000000000000000" pitchFamily="2" charset="2"/>
              </a:rPr>
              <a:t>	               = Fun_1{………}	</a:t>
            </a:r>
          </a:p>
          <a:p>
            <a:r>
              <a:rPr lang="en-US" altLang="zh-TW" dirty="0">
                <a:sym typeface="Wingdings" panose="05000000000000000000" pitchFamily="2" charset="2"/>
              </a:rPr>
              <a:t>}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資料型態與回傳型態一致，就都可以使用</a:t>
            </a:r>
          </a:p>
        </p:txBody>
      </p:sp>
      <p:sp>
        <p:nvSpPr>
          <p:cNvPr id="2" name="語音泡泡: 矩形 1">
            <a:extLst>
              <a:ext uri="{FF2B5EF4-FFF2-40B4-BE49-F238E27FC236}">
                <a16:creationId xmlns:a16="http://schemas.microsoft.com/office/drawing/2014/main" id="{40938FA6-9A0E-BECC-45EE-7CB740A961AF}"/>
              </a:ext>
            </a:extLst>
          </p:cNvPr>
          <p:cNvSpPr/>
          <p:nvPr/>
        </p:nvSpPr>
        <p:spPr>
          <a:xfrm>
            <a:off x="4154905" y="2580858"/>
            <a:ext cx="1997242" cy="427037"/>
          </a:xfrm>
          <a:prstGeom prst="wedgeRectCallout">
            <a:avLst>
              <a:gd name="adj1" fmla="val -77125"/>
              <a:gd name="adj2" fmla="val 33285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(   ) -&gt; 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A3BEA2-7CE6-3FBF-BED9-96082EC5FF98}"/>
              </a:ext>
            </a:extLst>
          </p:cNvPr>
          <p:cNvSpPr/>
          <p:nvPr/>
        </p:nvSpPr>
        <p:spPr>
          <a:xfrm>
            <a:off x="5478379" y="2612942"/>
            <a:ext cx="473242" cy="3288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語音泡泡: 矩形 4">
            <a:extLst>
              <a:ext uri="{FF2B5EF4-FFF2-40B4-BE49-F238E27FC236}">
                <a16:creationId xmlns:a16="http://schemas.microsoft.com/office/drawing/2014/main" id="{1967D05C-C939-3097-8B1E-EA5EBB0F7061}"/>
              </a:ext>
            </a:extLst>
          </p:cNvPr>
          <p:cNvSpPr/>
          <p:nvPr/>
        </p:nvSpPr>
        <p:spPr>
          <a:xfrm>
            <a:off x="5301916" y="1644315"/>
            <a:ext cx="1997242" cy="360947"/>
          </a:xfrm>
          <a:prstGeom prst="wedgeRectCallout">
            <a:avLst>
              <a:gd name="adj1" fmla="val -90780"/>
              <a:gd name="adj2" fmla="val 115508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Data type</a:t>
            </a:r>
            <a:endParaRPr lang="zh-TW" altLang="en-US" dirty="0">
              <a:solidFill>
                <a:schemeClr val="tx1"/>
              </a:solidFill>
            </a:endParaRPr>
          </a:p>
        </p:txBody>
      </p: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4FE589B8-6031-7417-5C55-1F6F0BCB2E15}"/>
              </a:ext>
            </a:extLst>
          </p:cNvPr>
          <p:cNvCxnSpPr/>
          <p:nvPr/>
        </p:nvCxnSpPr>
        <p:spPr>
          <a:xfrm flipH="1">
            <a:off x="3473116" y="2005262"/>
            <a:ext cx="3256547" cy="14999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>
            <a:extLst>
              <a:ext uri="{FF2B5EF4-FFF2-40B4-BE49-F238E27FC236}">
                <a16:creationId xmlns:a16="http://schemas.microsoft.com/office/drawing/2014/main" id="{3DA467BF-6675-8EFE-7539-B3856CBEEE8F}"/>
              </a:ext>
            </a:extLst>
          </p:cNvPr>
          <p:cNvSpPr txBox="1"/>
          <p:nvPr/>
        </p:nvSpPr>
        <p:spPr>
          <a:xfrm>
            <a:off x="3256547" y="4026568"/>
            <a:ext cx="497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{ }</a:t>
            </a:r>
            <a:endParaRPr lang="zh-TW" altLang="en-US" dirty="0"/>
          </a:p>
        </p:txBody>
      </p: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1D87E995-E78F-E41F-095A-187699FB1A36}"/>
              </a:ext>
            </a:extLst>
          </p:cNvPr>
          <p:cNvCxnSpPr>
            <a:cxnSpLocks/>
          </p:cNvCxnSpPr>
          <p:nvPr/>
        </p:nvCxnSpPr>
        <p:spPr>
          <a:xfrm>
            <a:off x="3569368" y="4211234"/>
            <a:ext cx="505327" cy="2564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13ED077A-F334-91B8-0F20-969A52A6DFE5}"/>
              </a:ext>
            </a:extLst>
          </p:cNvPr>
          <p:cNvSpPr txBox="1"/>
          <p:nvPr/>
        </p:nvSpPr>
        <p:spPr>
          <a:xfrm>
            <a:off x="4379681" y="4844353"/>
            <a:ext cx="2176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FF0000"/>
                </a:solidFill>
              </a:rPr>
              <a:t>data1 : Int </a:t>
            </a:r>
            <a:r>
              <a:rPr lang="en-US" altLang="zh-TW" dirty="0"/>
              <a:t>-&gt; </a:t>
            </a:r>
            <a:r>
              <a:rPr lang="zh-TW" altLang="en-US" dirty="0"/>
              <a:t>程式碼 </a:t>
            </a:r>
          </a:p>
        </p:txBody>
      </p:sp>
      <p:sp>
        <p:nvSpPr>
          <p:cNvPr id="12" name="語音泡泡: 矩形 11">
            <a:extLst>
              <a:ext uri="{FF2B5EF4-FFF2-40B4-BE49-F238E27FC236}">
                <a16:creationId xmlns:a16="http://schemas.microsoft.com/office/drawing/2014/main" id="{F137BB52-1B77-ED29-CC58-541397F524AF}"/>
              </a:ext>
            </a:extLst>
          </p:cNvPr>
          <p:cNvSpPr/>
          <p:nvPr/>
        </p:nvSpPr>
        <p:spPr>
          <a:xfrm>
            <a:off x="6858000" y="5029019"/>
            <a:ext cx="2077453" cy="402039"/>
          </a:xfrm>
          <a:prstGeom prst="wedgeRectCallout">
            <a:avLst>
              <a:gd name="adj1" fmla="val -67270"/>
              <a:gd name="adj2" fmla="val -49225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/>
              <a:t>自動把 </a:t>
            </a:r>
            <a:r>
              <a:rPr lang="en-US" altLang="zh-TW" dirty="0"/>
              <a:t>it </a:t>
            </a:r>
            <a:r>
              <a:rPr lang="zh-TW" altLang="en-US" dirty="0"/>
              <a:t>當作參數</a:t>
            </a:r>
          </a:p>
        </p:txBody>
      </p: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C0A52824-7E3B-C65E-FCF6-6DE508287F6A}"/>
              </a:ext>
            </a:extLst>
          </p:cNvPr>
          <p:cNvCxnSpPr/>
          <p:nvPr/>
        </p:nvCxnSpPr>
        <p:spPr>
          <a:xfrm flipH="1" flipV="1">
            <a:off x="4491789" y="4692315"/>
            <a:ext cx="224590" cy="1283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BCBDA080-D002-694F-20A6-B4681CFB557E}"/>
              </a:ext>
            </a:extLst>
          </p:cNvPr>
          <p:cNvSpPr txBox="1"/>
          <p:nvPr/>
        </p:nvSpPr>
        <p:spPr>
          <a:xfrm>
            <a:off x="4604084" y="5115874"/>
            <a:ext cx="7539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FF0000"/>
                </a:solidFill>
              </a:rPr>
              <a:t>省略</a:t>
            </a:r>
          </a:p>
        </p:txBody>
      </p:sp>
    </p:spTree>
    <p:extLst>
      <p:ext uri="{BB962C8B-B14F-4D97-AF65-F5344CB8AC3E}">
        <p14:creationId xmlns:p14="http://schemas.microsoft.com/office/powerpoint/2010/main" val="31929617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C03EFBA-3001-8DFB-627D-24C0A4D642DF}"/>
              </a:ext>
            </a:extLst>
          </p:cNvPr>
          <p:cNvSpPr txBox="1"/>
          <p:nvPr/>
        </p:nvSpPr>
        <p:spPr>
          <a:xfrm>
            <a:off x="705853" y="518773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Lambda </a:t>
            </a:r>
            <a:r>
              <a:rPr lang="zh-TW" altLang="en-US" dirty="0"/>
              <a:t>的使用 </a:t>
            </a:r>
            <a:r>
              <a:rPr lang="en-US" altLang="zh-TW" dirty="0"/>
              <a:t>Ex :</a:t>
            </a:r>
          </a:p>
          <a:p>
            <a:r>
              <a:rPr lang="en-US" altLang="zh-TW" dirty="0"/>
              <a:t>(1) : </a:t>
            </a:r>
            <a:r>
              <a:rPr lang="zh-TW" altLang="en-US" dirty="0"/>
              <a:t>隨時建一個簡單的函式</a:t>
            </a:r>
            <a:endParaRPr lang="en-US" altLang="zh-TW" dirty="0"/>
          </a:p>
          <a:p>
            <a:r>
              <a:rPr lang="en-US" altLang="zh-TW" dirty="0"/>
              <a:t>(2)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當作引數傳入函式</a:t>
            </a:r>
            <a:endParaRPr lang="en-US" altLang="zh-TW" dirty="0"/>
          </a:p>
          <a:p>
            <a:r>
              <a:rPr lang="en-US" altLang="zh-TW" dirty="0"/>
              <a:t>(3)</a:t>
            </a:r>
            <a:r>
              <a:rPr lang="zh-TW" altLang="en-US" dirty="0"/>
              <a:t> </a:t>
            </a:r>
            <a:r>
              <a:rPr lang="en-US" altLang="zh-TW" dirty="0"/>
              <a:t>:</a:t>
            </a:r>
            <a:r>
              <a:rPr lang="zh-TW" altLang="en-US" dirty="0"/>
              <a:t> 當作函式的回傳值</a:t>
            </a:r>
            <a:endParaRPr lang="en-US" altLang="zh-TW" dirty="0"/>
          </a:p>
          <a:p>
            <a:endParaRPr lang="en-US" altLang="zh-TW" dirty="0"/>
          </a:p>
          <a:p>
            <a:r>
              <a:rPr lang="en-US" altLang="zh-TW" dirty="0"/>
              <a:t>Ex3 :</a:t>
            </a:r>
          </a:p>
          <a:p>
            <a:r>
              <a:rPr lang="en-US" altLang="zh-TW" dirty="0"/>
              <a:t> fun Fun_2(</a:t>
            </a:r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參數</a:t>
            </a: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altLang="zh-TW" dirty="0"/>
              <a:t>:datatype, …..) : </a:t>
            </a:r>
            <a:r>
              <a:rPr lang="zh-TW" altLang="en-US" dirty="0">
                <a:solidFill>
                  <a:srgbClr val="0070C0"/>
                </a:solidFill>
              </a:rPr>
              <a:t>匿名函式</a:t>
            </a:r>
            <a:endParaRPr lang="en-US" altLang="zh-TW" dirty="0">
              <a:solidFill>
                <a:srgbClr val="0070C0"/>
              </a:solidFill>
            </a:endParaRPr>
          </a:p>
          <a:p>
            <a:r>
              <a:rPr lang="en-US" altLang="zh-TW" dirty="0"/>
              <a:t>{</a:t>
            </a:r>
          </a:p>
          <a:p>
            <a:r>
              <a:rPr lang="zh-TW" altLang="en-US" dirty="0"/>
              <a:t>    </a:t>
            </a:r>
            <a:r>
              <a:rPr lang="en-US" altLang="zh-TW" dirty="0"/>
              <a:t>When(</a:t>
            </a:r>
            <a:r>
              <a:rPr lang="zh-TW" altLang="en-US" dirty="0">
                <a:solidFill>
                  <a:schemeClr val="accent6">
                    <a:lumMod val="75000"/>
                  </a:schemeClr>
                </a:solidFill>
              </a:rPr>
              <a:t>參數</a:t>
            </a:r>
            <a:r>
              <a:rPr lang="en-US" altLang="zh-TW" dirty="0">
                <a:solidFill>
                  <a:schemeClr val="accent6">
                    <a:lumMod val="75000"/>
                  </a:schemeClr>
                </a:solidFill>
              </a:rPr>
              <a:t>1</a:t>
            </a:r>
            <a:r>
              <a:rPr lang="en-US" altLang="zh-TW" dirty="0"/>
              <a:t>){</a:t>
            </a:r>
          </a:p>
          <a:p>
            <a:r>
              <a:rPr lang="zh-TW" altLang="en-US" dirty="0"/>
              <a:t>  </a:t>
            </a:r>
            <a:r>
              <a:rPr lang="en-US" altLang="zh-TW" dirty="0"/>
              <a:t>	</a:t>
            </a:r>
            <a:r>
              <a:rPr lang="zh-TW" altLang="en-US" dirty="0"/>
              <a:t>條件</a:t>
            </a:r>
            <a:r>
              <a:rPr lang="en-US" altLang="zh-TW" dirty="0"/>
              <a:t>1 -&gt; return { lambda-1}</a:t>
            </a:r>
          </a:p>
          <a:p>
            <a:r>
              <a:rPr lang="en-US" altLang="zh-TW" dirty="0"/>
              <a:t>	</a:t>
            </a:r>
            <a:r>
              <a:rPr lang="zh-TW" altLang="en-US" dirty="0"/>
              <a:t>條件</a:t>
            </a:r>
            <a:r>
              <a:rPr lang="en-US" altLang="zh-TW" dirty="0"/>
              <a:t>2 -&gt; return { </a:t>
            </a:r>
            <a:r>
              <a:rPr lang="en-US" altLang="zh-TW" dirty="0">
                <a:solidFill>
                  <a:srgbClr val="0070C0"/>
                </a:solidFill>
              </a:rPr>
              <a:t>lambda-2</a:t>
            </a:r>
            <a:r>
              <a:rPr lang="en-US" altLang="zh-TW" dirty="0"/>
              <a:t>}</a:t>
            </a:r>
          </a:p>
          <a:p>
            <a:r>
              <a:rPr lang="zh-TW" altLang="en-US" dirty="0"/>
              <a:t>    </a:t>
            </a:r>
            <a:r>
              <a:rPr lang="en-US" altLang="zh-TW" dirty="0"/>
              <a:t>}</a:t>
            </a:r>
          </a:p>
          <a:p>
            <a:r>
              <a:rPr lang="en-US" altLang="zh-TW" dirty="0"/>
              <a:t>}</a:t>
            </a:r>
          </a:p>
          <a:p>
            <a:r>
              <a:rPr lang="en-US" altLang="zh-TW" dirty="0"/>
              <a:t>Main()</a:t>
            </a:r>
            <a:br>
              <a:rPr lang="en-US" altLang="zh-TW" dirty="0"/>
            </a:br>
            <a:r>
              <a:rPr lang="en-US" altLang="zh-TW" dirty="0"/>
              <a:t>{</a:t>
            </a:r>
          </a:p>
          <a:p>
            <a:r>
              <a:rPr lang="en-US" altLang="zh-TW" dirty="0"/>
              <a:t>	var </a:t>
            </a:r>
            <a:r>
              <a:rPr lang="en-US" altLang="zh-TW" dirty="0" err="1">
                <a:solidFill>
                  <a:srgbClr val="0070C0"/>
                </a:solidFill>
              </a:rPr>
              <a:t>returnFun</a:t>
            </a:r>
            <a:r>
              <a:rPr lang="en-US" altLang="zh-TW" dirty="0">
                <a:solidFill>
                  <a:srgbClr val="0070C0"/>
                </a:solidFill>
              </a:rPr>
              <a:t> </a:t>
            </a:r>
            <a:r>
              <a:rPr lang="en-US" altLang="zh-TW" dirty="0"/>
              <a:t>= Fun-2(</a:t>
            </a:r>
            <a:r>
              <a:rPr lang="zh-TW" altLang="en-US" dirty="0"/>
              <a:t>引數</a:t>
            </a:r>
            <a:r>
              <a:rPr lang="en-US" altLang="zh-TW" dirty="0"/>
              <a:t>)</a:t>
            </a:r>
          </a:p>
          <a:p>
            <a:r>
              <a:rPr lang="en-US" altLang="zh-TW" dirty="0"/>
              <a:t>	var </a:t>
            </a:r>
            <a:r>
              <a:rPr lang="zh-TW" altLang="en-US" dirty="0"/>
              <a:t>結果 </a:t>
            </a:r>
            <a:r>
              <a:rPr lang="en-US" altLang="zh-TW" dirty="0"/>
              <a:t>=</a:t>
            </a:r>
            <a:r>
              <a:rPr lang="zh-TW" altLang="en-US" dirty="0"/>
              <a:t> </a:t>
            </a:r>
            <a:r>
              <a:rPr lang="en-US" altLang="zh-TW" dirty="0" err="1">
                <a:solidFill>
                  <a:srgbClr val="0070C0"/>
                </a:solidFill>
              </a:rPr>
              <a:t>returnFun</a:t>
            </a:r>
            <a:r>
              <a:rPr lang="en-US" altLang="zh-TW" dirty="0">
                <a:solidFill>
                  <a:srgbClr val="0070C0"/>
                </a:solidFill>
              </a:rPr>
              <a:t> (</a:t>
            </a:r>
            <a:r>
              <a:rPr lang="en-US" altLang="zh-TW" dirty="0" err="1">
                <a:solidFill>
                  <a:srgbClr val="0070C0"/>
                </a:solidFill>
              </a:rPr>
              <a:t>lambd</a:t>
            </a:r>
            <a:r>
              <a:rPr lang="zh-TW" altLang="en-US" dirty="0">
                <a:solidFill>
                  <a:srgbClr val="0070C0"/>
                </a:solidFill>
              </a:rPr>
              <a:t>引數</a:t>
            </a:r>
            <a:r>
              <a:rPr lang="en-US" altLang="zh-TW" dirty="0">
                <a:solidFill>
                  <a:srgbClr val="0070C0"/>
                </a:solidFill>
              </a:rPr>
              <a:t>)</a:t>
            </a:r>
          </a:p>
          <a:p>
            <a:r>
              <a:rPr lang="en-US" altLang="zh-TW" dirty="0"/>
              <a:t>}</a:t>
            </a:r>
          </a:p>
          <a:p>
            <a:r>
              <a:rPr lang="en-US" altLang="zh-TW" dirty="0"/>
              <a:t>	</a:t>
            </a:r>
            <a:r>
              <a:rPr lang="en-US" altLang="zh-TW" dirty="0" err="1"/>
              <a:t>val</a:t>
            </a:r>
            <a:r>
              <a:rPr lang="en-US" altLang="zh-TW" dirty="0"/>
              <a:t> </a:t>
            </a:r>
            <a:r>
              <a:rPr lang="zh-TW" altLang="en-US" dirty="0"/>
              <a:t>結果 </a:t>
            </a:r>
            <a:r>
              <a:rPr lang="en-US" altLang="zh-TW" dirty="0"/>
              <a:t>= Fun_2(</a:t>
            </a:r>
            <a:r>
              <a:rPr lang="zh-TW" altLang="en-US" dirty="0"/>
              <a:t>引數</a:t>
            </a:r>
            <a:r>
              <a:rPr lang="en-US" altLang="zh-TW" dirty="0"/>
              <a:t>)(lambda</a:t>
            </a:r>
            <a:r>
              <a:rPr lang="zh-TW" altLang="en-US" dirty="0"/>
              <a:t>引數</a:t>
            </a:r>
            <a:r>
              <a:rPr lang="en-US" altLang="zh-TW" dirty="0"/>
              <a:t>)</a:t>
            </a:r>
          </a:p>
          <a:p>
            <a:endParaRPr lang="en-US" altLang="zh-TW" dirty="0"/>
          </a:p>
        </p:txBody>
      </p:sp>
      <p:sp>
        <p:nvSpPr>
          <p:cNvPr id="5" name="語音泡泡: 矩形 4">
            <a:extLst>
              <a:ext uri="{FF2B5EF4-FFF2-40B4-BE49-F238E27FC236}">
                <a16:creationId xmlns:a16="http://schemas.microsoft.com/office/drawing/2014/main" id="{7EA77709-9A4D-C9CE-93C9-416FFC243F3E}"/>
              </a:ext>
            </a:extLst>
          </p:cNvPr>
          <p:cNvSpPr/>
          <p:nvPr/>
        </p:nvSpPr>
        <p:spPr>
          <a:xfrm>
            <a:off x="2622885" y="2550779"/>
            <a:ext cx="1868904" cy="427037"/>
          </a:xfrm>
          <a:prstGeom prst="wedgeRectCallout">
            <a:avLst>
              <a:gd name="adj1" fmla="val 3999"/>
              <a:gd name="adj2" fmla="val 72730"/>
            </a:avLst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(   ) -&gt; 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39A1FD8-B487-27F3-666D-1B37E1C11297}"/>
              </a:ext>
            </a:extLst>
          </p:cNvPr>
          <p:cNvSpPr/>
          <p:nvPr/>
        </p:nvSpPr>
        <p:spPr>
          <a:xfrm>
            <a:off x="3882190" y="2599865"/>
            <a:ext cx="473242" cy="3288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74D170FC-5DFF-0610-0436-F0180FE0C857}"/>
              </a:ext>
            </a:extLst>
          </p:cNvPr>
          <p:cNvCxnSpPr/>
          <p:nvPr/>
        </p:nvCxnSpPr>
        <p:spPr>
          <a:xfrm flipH="1">
            <a:off x="4291263" y="2526632"/>
            <a:ext cx="401053" cy="9023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0FEBD493-FF9A-085A-1433-A075BC72B40B}"/>
              </a:ext>
            </a:extLst>
          </p:cNvPr>
          <p:cNvCxnSpPr/>
          <p:nvPr/>
        </p:nvCxnSpPr>
        <p:spPr>
          <a:xfrm flipH="1">
            <a:off x="1965158" y="2526632"/>
            <a:ext cx="216568" cy="21656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FBF173E8-3A71-37CD-AB73-CD1A35344D72}"/>
              </a:ext>
            </a:extLst>
          </p:cNvPr>
          <p:cNvCxnSpPr/>
          <p:nvPr/>
        </p:nvCxnSpPr>
        <p:spPr>
          <a:xfrm>
            <a:off x="2823411" y="4908884"/>
            <a:ext cx="200526" cy="1122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接點 13">
            <a:extLst>
              <a:ext uri="{FF2B5EF4-FFF2-40B4-BE49-F238E27FC236}">
                <a16:creationId xmlns:a16="http://schemas.microsoft.com/office/drawing/2014/main" id="{72FEA9B1-B174-58E9-6747-2DD9711136B9}"/>
              </a:ext>
            </a:extLst>
          </p:cNvPr>
          <p:cNvCxnSpPr/>
          <p:nvPr/>
        </p:nvCxnSpPr>
        <p:spPr>
          <a:xfrm>
            <a:off x="3826042" y="4957011"/>
            <a:ext cx="52939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線接點 15">
            <a:extLst>
              <a:ext uri="{FF2B5EF4-FFF2-40B4-BE49-F238E27FC236}">
                <a16:creationId xmlns:a16="http://schemas.microsoft.com/office/drawing/2014/main" id="{233A30F4-DBF1-4D04-5FCA-373DDF006544}"/>
              </a:ext>
            </a:extLst>
          </p:cNvPr>
          <p:cNvCxnSpPr/>
          <p:nvPr/>
        </p:nvCxnSpPr>
        <p:spPr>
          <a:xfrm>
            <a:off x="4435642" y="5237747"/>
            <a:ext cx="44917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單箭頭接點 17">
            <a:extLst>
              <a:ext uri="{FF2B5EF4-FFF2-40B4-BE49-F238E27FC236}">
                <a16:creationId xmlns:a16="http://schemas.microsoft.com/office/drawing/2014/main" id="{0522A7E4-DA7F-2CD4-1A4F-FE31223CF34E}"/>
              </a:ext>
            </a:extLst>
          </p:cNvPr>
          <p:cNvCxnSpPr/>
          <p:nvPr/>
        </p:nvCxnSpPr>
        <p:spPr>
          <a:xfrm flipH="1">
            <a:off x="2502568" y="2928728"/>
            <a:ext cx="1379622" cy="2092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單箭頭接點 19">
            <a:extLst>
              <a:ext uri="{FF2B5EF4-FFF2-40B4-BE49-F238E27FC236}">
                <a16:creationId xmlns:a16="http://schemas.microsoft.com/office/drawing/2014/main" id="{48C7B3EE-D8BB-D588-D7A3-5D0EA0BD408E}"/>
              </a:ext>
            </a:extLst>
          </p:cNvPr>
          <p:cNvCxnSpPr>
            <a:cxnSpLocks/>
          </p:cNvCxnSpPr>
          <p:nvPr/>
        </p:nvCxnSpPr>
        <p:spPr>
          <a:xfrm>
            <a:off x="3408948" y="2928728"/>
            <a:ext cx="136357" cy="16739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9792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394</Words>
  <Application>Microsoft Office PowerPoint</Application>
  <PresentationFormat>寬螢幕</PresentationFormat>
  <Paragraphs>61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Wingdings</vt:lpstr>
      <vt:lpstr>Office 佈景主題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User</cp:lastModifiedBy>
  <cp:revision>4</cp:revision>
  <dcterms:created xsi:type="dcterms:W3CDTF">2026-06-05T00:44:05Z</dcterms:created>
  <dcterms:modified xsi:type="dcterms:W3CDTF">2026-06-05T02:51:41Z</dcterms:modified>
</cp:coreProperties>
</file>