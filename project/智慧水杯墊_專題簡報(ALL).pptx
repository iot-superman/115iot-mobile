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  <p:sldId id="271" r:id="rId19"/>
    <p:sldId id="273" r:id="rId20"/>
    <p:sldId id="274" r:id="rId21"/>
  </p:sldIdLst>
  <p:sldSz cx="12188825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>
      <p:cViewPr varScale="1">
        <p:scale>
          <a:sx n="119" d="100"/>
          <a:sy n="119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使用者提供之專題資料</a:t>
            </a:r>
          </a:p>
          <a:p>
            <a:r>
              <a:t>https://docs.espressif.com/projects/arduino-esp32/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https://cdn.sparkfun.com/datasheets/Sensors/ForceFlex/hx711_english.pdf</a:t>
            </a:r>
          </a:p>
          <a:p>
            <a:r>
              <a:t>https://mqtt.org/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https://cdn.sparkfun.com/datasheets/Sensors/ForceFlex/hx711_english.pdf</a:t>
            </a:r>
          </a:p>
          <a:p>
            <a:r>
              <a:t>https://www.bluetooth.com/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使用者提供之白板架構草圖</a:t>
            </a:r>
          </a:p>
          <a:p>
            <a:r>
              <a:t>https://mqtt.org/</a:t>
            </a:r>
          </a:p>
          <a:p>
            <a:r>
              <a:t>https://developer.android.com/develop/connectivity/bluetooth/ble/ble-overview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F019-970B-CE51-673E-8E296066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EB2B2-7D83-3E8B-49C6-E9A44A0E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84B8A-E70E-7885-A985-00812D9A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使用者提供之白板架構草圖</a:t>
            </a:r>
          </a:p>
          <a:p>
            <a:r>
              <a:t>https://mqtt.org/</a:t>
            </a:r>
          </a:p>
          <a:p>
            <a:r>
              <a:t>https://developer.android.com/develop/connectivity/bluetooth/ble/ble-overview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CF1A4-CA85-19F2-163D-2A3D24F48F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337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https://cdn.sparkfun.com/datasheets/Sensors/ForceFlex/hx711_english.pdf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本專案依實際 HTML 與 ESP32 韌體整理</a:t>
            </a:r>
          </a:p>
          <a:p>
            <a:r>
              <a:t>https://github.com/bogde/HX711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 HTML 與功能流程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https://docs.espressif.com/projects/arduino-esp32/</a:t>
            </a:r>
          </a:p>
          <a:p>
            <a:r>
              <a:t>https://docs.espressif.com/projects/arduino-esp32/en/latest/api/preferences.html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https://docs.oasis-open.org/mqtt/mqtt/v5.0/mqtt-v5.0.html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https://developer.mozilla.org/docs/Web/HTTP/Guides/Overview</a:t>
            </a:r>
          </a:p>
          <a:p>
            <a:r>
              <a:t>https://mqtt.org/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https://developer.android.com/develop/connectivity/bluetooth/ble/ble-overview</a:t>
            </a:r>
          </a:p>
          <a:p>
            <a:r>
              <a:t>https://docs.espressif.com/projects/esp-idf/en/stable/esp32/api-reference/provisioning/wifi_provisioning.html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36038-11B5-680A-C82F-CB09F2EF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536FC-22F4-B7A2-E3EB-399484CF2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D7AE6-CD7F-024F-CFBA-A31D6437E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https://stitch.withgoogle.com/preview/7871356781278936772?node-id=61a973ebf567437aaab41de1e43c8d2a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FBBE-C72D-2C88-1726-DF8FBE71F9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9235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https://stitch.withgoogle.com/preview/7871356781278936772?node-id=61a973ebf567437aaab41de1e43c8d2a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使用者提供之目前專題進度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https://www.arduino.cc/en/software</a:t>
            </a:r>
          </a:p>
          <a:p>
            <a:r>
              <a:t>https://code.visualstudio.com/</a:t>
            </a:r>
          </a:p>
          <a:p>
            <a:r>
              <a:t>https://mqtt.org/</a:t>
            </a:r>
          </a:p>
          <a:p>
            <a:r>
              <a:t>https://www.bluetooth.com/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https://docs.espressif.com/projects/esp-idf/en/stable/esp32/api-guides/wifi-security.html</a:t>
            </a:r>
          </a:p>
          <a:p>
            <a:r>
              <a:t>https://docs.oasis-open.org/mqtt/mqtt/v5.0/mqtt-v5.0.html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使用者提供之專題規格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74DF-E838-8A6D-6338-C426125F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F5341-8A7E-5D26-144D-4F3FE7091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E682C-5FF7-79D1-BBBD-490E39610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使用者提供之專題規格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935F2-CF4F-6DEE-7BA7-E04110A5A2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15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C9F9-8206-0CE6-5676-05271ACD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47639-5103-9638-865B-304800102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5D13B-14DE-0530-5E72-AF38186A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使用者提供之專題規格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BF021-87F0-5281-71D0-8B2F3773AE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78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A8A31-0343-4A63-8D65-5AC2BBE96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buNone/>
              <a:defRPr sz="6600">
                <a:solidFill>
                  <a:schemeClr val="tx1"/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404F55-DCDB-491D-9B0B-83455968D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  <a:latin typeface="Microsoft JhengHei UI"/>
                <a:ea typeface="Microsoft JhengHei UI"/>
                <a:cs typeface="Microsoft JhengHei U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按一下以編輯母片副標題樣式</a:t>
            </a:r>
          </a:p>
        </p:txBody>
      </p:sp>
      <p:sp>
        <p:nvSpPr>
          <p:cNvPr id="4" name="投影片編號預留位置 5">
            <a:extLst>
              <a:ext uri="{FF2B5EF4-FFF2-40B4-BE49-F238E27FC236}">
                <a16:creationId xmlns:a16="http://schemas.microsoft.com/office/drawing/2014/main" id="{4EC40861-77C4-4DE5-AC86-7610E756BC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 b="1">
                <a:solidFill>
                  <a:schemeClr val="tx1">
                    <a:tint val="75000"/>
                  </a:schemeClr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6DA18-B6DF-4A1B-BB43-ADFE4673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8266A45F-956E-42D8-9E39-0731127F8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  <a:lvl2pPr>
              <a:buNone/>
              <a:defRPr>
                <a:latin typeface="Microsoft JhengHei UI"/>
                <a:ea typeface="Microsoft JhengHei UI"/>
                <a:cs typeface="Microsoft JhengHei UI"/>
              </a:defRPr>
            </a:lvl2pPr>
            <a:lvl3pPr>
              <a:buNone/>
              <a:defRPr>
                <a:latin typeface="Microsoft JhengHei UI"/>
                <a:ea typeface="Microsoft JhengHei UI"/>
                <a:cs typeface="Microsoft JhengHei UI"/>
              </a:defRPr>
            </a:lvl3pPr>
            <a:lvl4pPr>
              <a:buNone/>
              <a:defRPr>
                <a:latin typeface="Microsoft JhengHei UI"/>
                <a:ea typeface="Microsoft JhengHei UI"/>
                <a:cs typeface="Microsoft JhengHei UI"/>
              </a:defRPr>
            </a:lvl4pPr>
            <a:lvl5pPr algn="l">
              <a:buNone/>
              <a:defRPr>
                <a:latin typeface="Microsoft JhengHei UI"/>
                <a:ea typeface="Microsoft JhengHei UI"/>
                <a:cs typeface="Microsoft JhengHei UI"/>
              </a:defRPr>
            </a:lvl5pPr>
            <a:lvl6pPr algn="l">
              <a:buNone/>
              <a:defRPr/>
            </a:lvl6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B996371C-A4D0-42AD-881F-21AD95EB2D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4FC60449-6C97-443C-987F-36F00E300E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7" name="投影片編號預留位置 5">
            <a:extLst>
              <a:ext uri="{FF2B5EF4-FFF2-40B4-BE49-F238E27FC236}">
                <a16:creationId xmlns:a16="http://schemas.microsoft.com/office/drawing/2014/main" id="{1C37AF46-6AEE-4C65-815F-87061CD6CF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 b="1">
                <a:solidFill>
                  <a:schemeClr val="tx1">
                    <a:tint val="75000"/>
                  </a:schemeClr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04A907-DA8D-4645-AD9B-29D212C0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buNone/>
              <a:defRPr sz="4800" b="0" cap="none" baseline="0"/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A833329F-DE7C-45CD-B23C-2EA70D97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DD43D26-225C-4B28-BB3C-44A5BE9C12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30E14057-B5C7-4435-9218-179607EECD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72BD7545-77DC-44FF-94BA-AEDA4FF6C6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F59F6D-469D-4323-815B-65E5D95A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20B048B0-5CC3-44AD-BD35-6618E38EB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 algn="l">
              <a:buNone/>
              <a:defRPr sz="2400"/>
            </a:lvl1pPr>
            <a:lvl2pPr algn="l">
              <a:buNone/>
              <a:defRPr sz="2000"/>
            </a:lvl2pPr>
            <a:lvl3pPr algn="l">
              <a:buNone/>
              <a:defRPr sz="1800"/>
            </a:lvl3pPr>
            <a:lvl4pPr algn="l">
              <a:buNone/>
              <a:defRPr sz="1600"/>
            </a:lvl4pPr>
            <a:lvl5pPr algn="l">
              <a:buNone/>
              <a:defRPr sz="1600"/>
            </a:lvl5pPr>
            <a:lvl6pPr algn="l">
              <a:buNone/>
              <a:defRPr sz="1600"/>
            </a:lvl6pPr>
            <a:lvl7pPr algn="l">
              <a:buNone/>
              <a:defRPr sz="1600"/>
            </a:lvl7pPr>
            <a:lvl8pPr algn="l">
              <a:buNone/>
              <a:defRPr sz="1600"/>
            </a:lvl8pPr>
            <a:lvl9pPr algn="l"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1AF313CD-8958-485D-9885-95A29A1D19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 algn="l">
              <a:buNone/>
              <a:defRPr sz="2400"/>
            </a:lvl1pPr>
            <a:lvl2pPr algn="l">
              <a:buNone/>
              <a:defRPr sz="2000"/>
            </a:lvl2pPr>
            <a:lvl3pPr algn="l">
              <a:buNone/>
              <a:defRPr sz="1800"/>
            </a:lvl3pPr>
            <a:lvl4pPr algn="l">
              <a:buNone/>
              <a:defRPr sz="1600"/>
            </a:lvl4pPr>
            <a:lvl5pPr algn="l">
              <a:buNone/>
              <a:defRPr sz="1600"/>
            </a:lvl5pPr>
            <a:lvl6pPr algn="l">
              <a:buNone/>
              <a:defRPr sz="1600"/>
            </a:lvl6pPr>
            <a:lvl7pPr algn="l">
              <a:buNone/>
              <a:defRPr sz="1600"/>
            </a:lvl7pPr>
            <a:lvl8pPr algn="l">
              <a:buNone/>
              <a:defRPr sz="1600"/>
            </a:lvl8pPr>
            <a:lvl9pPr algn="l"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0A3973D8-4C9A-4A9C-83D2-6CC9B9124A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FE0B492B-072B-4F8B-B286-9B4FC9EB60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69810F68-19E8-46CD-AA05-7F2070263E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CEC5D0-D1D9-4F05-AF42-8EC1C75B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B09BB3CD-C8CA-4228-AD13-D098B606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  <a:latin typeface="Microsoft JhengHei UI"/>
                <a:ea typeface="Microsoft JhengHei UI"/>
                <a:cs typeface="Microsoft JhengHei UI"/>
              </a:defRPr>
            </a:lvl1pPr>
            <a:lvl2pPr marL="457200" indent="0" algn="l">
              <a:buNone/>
              <a:defRPr sz="2000" b="1"/>
            </a:lvl2pPr>
            <a:lvl3pPr marL="914400" indent="0" algn="l">
              <a:buNone/>
              <a:defRPr sz="1800" b="1"/>
            </a:lvl3pPr>
            <a:lvl4pPr marL="1371600" indent="0" algn="l">
              <a:buNone/>
              <a:defRPr sz="1600" b="1"/>
            </a:lvl4pPr>
            <a:lvl5pPr marL="1828800" indent="0" algn="l">
              <a:buNone/>
              <a:defRPr sz="1600" b="1"/>
            </a:lvl5pPr>
            <a:lvl6pPr marL="2286000" indent="0" algn="l">
              <a:buNone/>
              <a:defRPr sz="1600" b="1"/>
            </a:lvl6pPr>
            <a:lvl7pPr marL="2743200" indent="0" algn="l">
              <a:buNone/>
              <a:defRPr sz="1600" b="1"/>
            </a:lvl7pPr>
            <a:lvl8pPr marL="3200400" indent="0" algn="l">
              <a:buNone/>
              <a:defRPr sz="1600" b="1"/>
            </a:lvl8pPr>
            <a:lvl9pPr marL="3657600" indent="0" algn="l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014DB882-52B0-4BF7-A458-835ECE7FF95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 algn="l">
              <a:buNone/>
              <a:defRPr sz="2400">
                <a:latin typeface="Microsoft JhengHei UI"/>
                <a:ea typeface="Microsoft JhengHei UI"/>
                <a:cs typeface="Microsoft JhengHei UI"/>
              </a:defRPr>
            </a:lvl1pPr>
            <a:lvl2pPr algn="l">
              <a:buNone/>
              <a:defRPr sz="2000">
                <a:latin typeface="Microsoft JhengHei UI"/>
                <a:ea typeface="Microsoft JhengHei UI"/>
                <a:cs typeface="Microsoft JhengHei UI"/>
              </a:defRPr>
            </a:lvl2pPr>
            <a:lvl3pPr algn="l">
              <a:buNone/>
              <a:defRPr sz="1800">
                <a:latin typeface="Microsoft JhengHei UI"/>
                <a:ea typeface="Microsoft JhengHei UI"/>
                <a:cs typeface="Microsoft JhengHei UI"/>
              </a:defRPr>
            </a:lvl3pPr>
            <a:lvl4pPr algn="l">
              <a:buNone/>
              <a:defRPr sz="1600">
                <a:latin typeface="Microsoft JhengHei UI"/>
                <a:ea typeface="Microsoft JhengHei UI"/>
                <a:cs typeface="Microsoft JhengHei UI"/>
              </a:defRPr>
            </a:lvl4pPr>
            <a:lvl5pPr algn="l">
              <a:buNone/>
              <a:defRPr sz="1600">
                <a:latin typeface="Microsoft JhengHei UI"/>
                <a:ea typeface="Microsoft JhengHei UI"/>
                <a:cs typeface="Microsoft JhengHei UI"/>
              </a:defRPr>
            </a:lvl5pPr>
            <a:lvl6pPr algn="l">
              <a:buNone/>
              <a:defRPr sz="1600"/>
            </a:lvl6pPr>
            <a:lvl7pPr algn="l">
              <a:buNone/>
              <a:defRPr sz="1600"/>
            </a:lvl7pPr>
            <a:lvl8pPr algn="l">
              <a:buNone/>
              <a:defRPr sz="1600"/>
            </a:lvl8pPr>
            <a:lvl9pPr algn="l"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2F2BE66E-8725-4FC5-B79B-06353806655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  <a:latin typeface="Microsoft JhengHei UI"/>
                <a:ea typeface="Microsoft JhengHei UI"/>
                <a:cs typeface="Microsoft JhengHei UI"/>
              </a:defRPr>
            </a:lvl1pPr>
            <a:lvl2pPr marL="457200" indent="0" algn="l">
              <a:buNone/>
              <a:defRPr sz="2000" b="1"/>
            </a:lvl2pPr>
            <a:lvl3pPr marL="914400" indent="0" algn="l">
              <a:buNone/>
              <a:defRPr sz="1800" b="1"/>
            </a:lvl3pPr>
            <a:lvl4pPr marL="1371600" indent="0" algn="l">
              <a:buNone/>
              <a:defRPr sz="1600" b="1"/>
            </a:lvl4pPr>
            <a:lvl5pPr marL="1828800" indent="0" algn="l">
              <a:buNone/>
              <a:defRPr sz="1600" b="1"/>
            </a:lvl5pPr>
            <a:lvl6pPr marL="2286000" indent="0" algn="l">
              <a:buNone/>
              <a:defRPr sz="1600" b="1"/>
            </a:lvl6pPr>
            <a:lvl7pPr marL="2743200" indent="0" algn="l">
              <a:buNone/>
              <a:defRPr sz="1600" b="1"/>
            </a:lvl7pPr>
            <a:lvl8pPr marL="3200400" indent="0" algn="l">
              <a:buNone/>
              <a:defRPr sz="1600" b="1"/>
            </a:lvl8pPr>
            <a:lvl9pPr marL="3657600" indent="0" algn="l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CEA5B347-AF7F-4ABD-B2F7-F82173F231A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 algn="l">
              <a:buNone/>
              <a:defRPr sz="2400">
                <a:latin typeface="Microsoft JhengHei UI"/>
                <a:ea typeface="Microsoft JhengHei UI"/>
                <a:cs typeface="Microsoft JhengHei UI"/>
              </a:defRPr>
            </a:lvl1pPr>
            <a:lvl2pPr algn="l">
              <a:buNone/>
              <a:defRPr sz="2000">
                <a:latin typeface="Microsoft JhengHei UI"/>
                <a:ea typeface="Microsoft JhengHei UI"/>
                <a:cs typeface="Microsoft JhengHei UI"/>
              </a:defRPr>
            </a:lvl2pPr>
            <a:lvl3pPr algn="l">
              <a:buNone/>
              <a:defRPr sz="1800">
                <a:latin typeface="Microsoft JhengHei UI"/>
                <a:ea typeface="Microsoft JhengHei UI"/>
                <a:cs typeface="Microsoft JhengHei UI"/>
              </a:defRPr>
            </a:lvl3pPr>
            <a:lvl4pPr algn="l">
              <a:buNone/>
              <a:defRPr sz="1600">
                <a:latin typeface="Microsoft JhengHei UI"/>
                <a:ea typeface="Microsoft JhengHei UI"/>
                <a:cs typeface="Microsoft JhengHei UI"/>
              </a:defRPr>
            </a:lvl4pPr>
            <a:lvl5pPr algn="l">
              <a:buNone/>
              <a:defRPr sz="1600">
                <a:latin typeface="Microsoft JhengHei UI"/>
                <a:ea typeface="Microsoft JhengHei UI"/>
                <a:cs typeface="Microsoft JhengHei UI"/>
              </a:defRPr>
            </a:lvl5pPr>
            <a:lvl6pPr algn="l">
              <a:buNone/>
              <a:defRPr sz="1600"/>
            </a:lvl6pPr>
            <a:lvl7pPr algn="l">
              <a:buNone/>
              <a:defRPr sz="1600"/>
            </a:lvl7pPr>
            <a:lvl8pPr algn="l">
              <a:buNone/>
              <a:defRPr sz="1600"/>
            </a:lvl8pPr>
            <a:lvl9pPr algn="l"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7" name="日期預留位置 6">
            <a:extLst>
              <a:ext uri="{FF2B5EF4-FFF2-40B4-BE49-F238E27FC236}">
                <a16:creationId xmlns:a16="http://schemas.microsoft.com/office/drawing/2014/main" id="{00D21782-4C30-4DAB-BF0E-06B777D96C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8" name="頁尾預留位置 7">
            <a:extLst>
              <a:ext uri="{FF2B5EF4-FFF2-40B4-BE49-F238E27FC236}">
                <a16:creationId xmlns:a16="http://schemas.microsoft.com/office/drawing/2014/main" id="{6FB771B5-C6FC-4F98-8A77-BEC1BF6F33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31787553-30D4-4BE4-AC23-916FFCCACF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A1270-0B8C-4A8F-A89C-0C51DBCE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5C175686-8F34-4B07-9652-6FF9B92614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7429EE69-4C7D-4778-B069-7B3FEA2E47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2E781F6-C2DF-4387-B531-647CFB0D2F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40427F72-DE95-4F69-B434-607B5E6DCB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頁尾預留位置 2">
            <a:extLst>
              <a:ext uri="{FF2B5EF4-FFF2-40B4-BE49-F238E27FC236}">
                <a16:creationId xmlns:a16="http://schemas.microsoft.com/office/drawing/2014/main" id="{3F28D9A1-2C51-42BC-A5A2-39BA940EFA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F0067C7-DB2F-41FC-9695-DA6DB5DA1F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90956" y="6400800"/>
            <a:ext cx="838201" cy="276228"/>
          </a:xfrm>
        </p:spPr>
        <p:txBody>
          <a:bodyPr/>
          <a:lstStyle>
            <a:lvl1pPr>
              <a:buNone/>
              <a:defRPr sz="1600" b="1"/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7AB4D-10D2-4F55-88B9-29A82CC1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buNone/>
              <a:defRPr sz="3600" b="0" baseline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2D4B87F0-3749-4F53-9277-21AACB644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 algn="l">
              <a:buNone/>
              <a:defRPr sz="2400"/>
            </a:lvl1pPr>
            <a:lvl2pPr algn="l">
              <a:buNone/>
              <a:defRPr sz="2000"/>
            </a:lvl2pPr>
            <a:lvl3pPr algn="l">
              <a:buNone/>
              <a:defRPr sz="1800"/>
            </a:lvl3pPr>
            <a:lvl4pPr algn="l">
              <a:buNone/>
              <a:defRPr sz="1600"/>
            </a:lvl4pPr>
            <a:lvl5pPr algn="l">
              <a:buNone/>
              <a:defRPr sz="1600"/>
            </a:lvl5pPr>
            <a:lvl6pPr algn="l">
              <a:buNone/>
              <a:defRPr sz="1600"/>
            </a:lvl6pPr>
            <a:lvl7pPr algn="l">
              <a:buNone/>
              <a:defRPr sz="1600"/>
            </a:lvl7pPr>
            <a:lvl8pPr algn="l">
              <a:buNone/>
              <a:defRPr sz="1600"/>
            </a:lvl8pPr>
            <a:lvl9pPr algn="l"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E0BF3A99-0A50-476E-9CDF-F6AF1C88DE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  <a:lvl6pPr marL="2286000" indent="0" algn="l">
              <a:buNone/>
              <a:defRPr sz="900"/>
            </a:lvl6pPr>
            <a:lvl7pPr marL="2743200" indent="0" algn="l">
              <a:buNone/>
              <a:defRPr sz="900"/>
            </a:lvl7pPr>
            <a:lvl8pPr marL="3200400" indent="0" algn="l">
              <a:buNone/>
              <a:defRPr sz="900"/>
            </a:lvl8pPr>
            <a:lvl9pPr marL="3657600" indent="0" algn="l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EE4B0486-0095-4709-818A-7E1E5DC3A4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152257D9-B8BF-4787-B309-24DF676624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58FE7C8E-A01C-4171-AF5D-6CC087DCB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預留位置 2">
            <a:extLst>
              <a:ext uri="{FF2B5EF4-FFF2-40B4-BE49-F238E27FC236}">
                <a16:creationId xmlns:a16="http://schemas.microsoft.com/office/drawing/2014/main" id="{9593566F-57E0-401F-A68A-0A5ACF0BD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prstGeom prst="rect">
            <a:avLst/>
          </a:prstGeom>
          <a:solidFill>
            <a:schemeClr val="bg2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Microsoft JhengHei UI"/>
                <a:ea typeface="Microsoft JhengHei UI"/>
                <a:cs typeface="Microsoft JhengHei UI"/>
              </a:defRPr>
            </a:lvl1pPr>
            <a:lvl2pPr marL="457200" indent="0" algn="l">
              <a:buNone/>
              <a:defRPr sz="2800"/>
            </a:lvl2pPr>
            <a:lvl3pPr marL="914400" indent="0" algn="l">
              <a:buNone/>
              <a:defRPr sz="24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buNone/>
            </a:pPr>
            <a:r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6BCCC89-78BE-4B8A-8ABC-5D9B046B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buNone/>
              <a:defRPr sz="3600" b="0" i="0" baseline="0">
                <a:solidFill>
                  <a:schemeClr val="tx1"/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5DA8A9AB-9F79-4305-8735-31D89047D3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spcBef>
                <a:spcPts val="1200"/>
              </a:spcBef>
              <a:buNone/>
              <a:defRPr sz="1800">
                <a:latin typeface="Microsoft JhengHei UI"/>
                <a:ea typeface="Microsoft JhengHei UI"/>
                <a:cs typeface="Microsoft JhengHei UI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  <a:lvl6pPr marL="2286000" indent="0" algn="l">
              <a:buNone/>
              <a:defRPr sz="900"/>
            </a:lvl6pPr>
            <a:lvl7pPr marL="2743200" indent="0" algn="l">
              <a:buNone/>
              <a:defRPr sz="900"/>
            </a:lvl7pPr>
            <a:lvl8pPr marL="3200400" indent="0" algn="l">
              <a:buNone/>
              <a:defRPr sz="900"/>
            </a:lvl8pPr>
            <a:lvl9pPr marL="3657600" indent="0" algn="l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75840CBD-4087-4FB2-88D7-D9B1A12628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3D333612-47FF-481F-A2AE-C635A3A679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ACE22755-65DE-4440-811E-E2CB708BC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040413-4A6E-47BE-8609-407FC6E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直排文字預留位置 2">
            <a:extLst>
              <a:ext uri="{FF2B5EF4-FFF2-40B4-BE49-F238E27FC236}">
                <a16:creationId xmlns:a16="http://schemas.microsoft.com/office/drawing/2014/main" id="{325CF640-B62F-488E-9542-BFCBC13AF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7715DEF-EE6A-4186-B56B-FBE50E5890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EE50F4F4-E844-4FB1-86DB-7DC45C4D96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40823DB2-B213-44BE-BE02-9CF40C6195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B114D25-9715-4EDD-BB69-7A1A0B47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直排文字預留位置 2">
            <a:extLst>
              <a:ext uri="{FF2B5EF4-FFF2-40B4-BE49-F238E27FC236}">
                <a16:creationId xmlns:a16="http://schemas.microsoft.com/office/drawing/2014/main" id="{BA9D935D-9E1B-4F1E-B673-1BEE870A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  <a:lvl2pPr>
              <a:buNone/>
              <a:defRPr>
                <a:latin typeface="Microsoft JhengHei UI"/>
                <a:ea typeface="Microsoft JhengHei UI"/>
                <a:cs typeface="Microsoft JhengHei UI"/>
              </a:defRPr>
            </a:lvl2pPr>
            <a:lvl3pPr>
              <a:buNone/>
              <a:defRPr>
                <a:latin typeface="Microsoft JhengHei UI"/>
                <a:ea typeface="Microsoft JhengHei UI"/>
                <a:cs typeface="Microsoft JhengHei UI"/>
              </a:defRPr>
            </a:lvl3pPr>
            <a:lvl4pPr>
              <a:buNone/>
              <a:defRPr>
                <a:latin typeface="Microsoft JhengHei UI"/>
                <a:ea typeface="Microsoft JhengHei UI"/>
                <a:cs typeface="Microsoft JhengHei UI"/>
              </a:defRPr>
            </a:lvl4pPr>
            <a:lvl5pPr>
              <a:buNone/>
              <a:defRPr>
                <a:latin typeface="Microsoft JhengHei UI"/>
                <a:ea typeface="Microsoft JhengHei UI"/>
                <a:cs typeface="Microsoft JhengHei UI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E33DEC3-47B6-4AEF-ACBC-F8EBF6DDC8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F88FD6A8-FBA6-4675-A8A9-BB3B3C829F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4B5B52D-8D5D-4328-9CFC-B5F9197363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A5D0E6EE-7403-4DAA-A651-FEA7262E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9E63359F-1076-4099-9CBD-F14F36439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6E2F817-B321-49C4-A290-2EEB3864887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4507AA8F-C681-4F13-82DE-6D435719A8F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endParaRPr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B24C7C5D-7D7F-4F68-9434-B248F0820E9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 b="1">
                <a:solidFill>
                  <a:schemeClr val="tx1">
                    <a:tint val="75000"/>
                  </a:schemeClr>
                </a:solidFill>
                <a:latin typeface="Microsoft JhengHei UI"/>
                <a:ea typeface="Microsoft JhengHei UI"/>
                <a:cs typeface="Microsoft JhengHei UI"/>
              </a:defRPr>
            </a:lvl1pPr>
          </a:lstStyle>
          <a:p>
            <a:fld id="{2A013F82-EE5E-44EE-A61D-E31C6657F26F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Microsoft JhengHei UI"/>
          <a:ea typeface="Microsoft JhengHei UI"/>
          <a:cs typeface="Microsoft JhengHei UI"/>
        </a:defRPr>
      </a:lvl1pPr>
    </p:titleStyle>
    <p:bodyStyle>
      <a:lvl1pPr marL="223838" indent="-223838" algn="l" defTabSz="914400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/>
        <a:buChar char="•"/>
        <a:defRPr sz="2400" kern="1200">
          <a:solidFill>
            <a:schemeClr val="tx1"/>
          </a:solidFill>
          <a:latin typeface="Microsoft JhengHei UI"/>
          <a:ea typeface="Microsoft JhengHei UI"/>
          <a:cs typeface="Microsoft JhengHei UI"/>
        </a:defRPr>
      </a:lvl1pPr>
      <a:lvl2pPr marL="463550" indent="-231775" algn="l" defTabSz="914400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/>
        <a:buChar char="•"/>
        <a:defRPr sz="2000" kern="1200">
          <a:solidFill>
            <a:schemeClr val="tx1"/>
          </a:solidFill>
          <a:latin typeface="Microsoft JhengHei UI"/>
          <a:ea typeface="Microsoft JhengHei UI"/>
          <a:cs typeface="Microsoft JhengHei UI"/>
        </a:defRPr>
      </a:lvl2pPr>
      <a:lvl3pPr marL="682625" indent="-219075" algn="l" defTabSz="91440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Microsoft JhengHei UI"/>
          <a:ea typeface="Microsoft JhengHei UI"/>
          <a:cs typeface="Microsoft JhengHei UI"/>
        </a:defRPr>
      </a:lvl3pPr>
      <a:lvl4pPr marL="857250" indent="-174625" algn="l" defTabSz="91440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600" kern="1200">
          <a:solidFill>
            <a:schemeClr val="tx1"/>
          </a:solidFill>
          <a:latin typeface="Microsoft JhengHei UI"/>
          <a:ea typeface="Microsoft JhengHei UI"/>
          <a:cs typeface="Microsoft JhengHei UI"/>
        </a:defRPr>
      </a:lvl4pPr>
      <a:lvl5pPr marL="1030288" indent="-173038" algn="l" defTabSz="91440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600" kern="1200">
          <a:solidFill>
            <a:schemeClr val="tx1"/>
          </a:solidFill>
          <a:latin typeface="Microsoft JhengHei UI"/>
          <a:ea typeface="Microsoft JhengHei UI"/>
          <a:cs typeface="Microsoft JhengHei UI"/>
        </a:defRPr>
      </a:lvl5pPr>
      <a:lvl6pPr marL="1207008" indent="-173736" algn="l" defTabSz="914400">
        <a:spcBef>
          <a:spcPts val="6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380744" indent="-173736" algn="l" defTabSz="914400">
        <a:spcBef>
          <a:spcPts val="6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554480" indent="-173736" algn="l" defTabSz="914400">
        <a:spcBef>
          <a:spcPts val="6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1728216" indent="-173736" algn="l" defTabSz="914400">
        <a:spcBef>
          <a:spcPts val="6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titch.withgoogle.com/preview/7871356781278936772?node-id=61a973ebf567437aaab41de1e43c8d2a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BF889E5-F7D4-4B41-B8A3-CBB98A4642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多功能智慧喇叭</a:t>
            </a:r>
            <a:endParaRPr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44C06789-58ED-4C19-96E8-D59E2943F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組員: 莊宏隆(6), 羅伊庭(3), 邱佩儀(10)</a:t>
            </a:r>
            <a:br/>
            <a:r>
              <a:t>指導老師:葉呈祥老師、高秀娟老師</a:t>
            </a:r>
            <a:endParaRPr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49A617-1E63-499B-84CE-8019227DA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2D4455-262E-4F61-AC09-D22DC0F33C83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6A689-0F67-4598-8D6B-FEDADE4D59A7}"/>
              </a:ext>
            </a:extLst>
          </p:cNvPr>
          <p:cNvSpPr>
            <a:spLocks noGrp="1"/>
          </p:cNvSpPr>
          <p:nvPr/>
        </p:nvSpPr>
        <p:spPr>
          <a:xfrm>
            <a:off x="800100" y="99060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多喝水沒事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CC5F1D-B6A2-47F8-96E6-706BCD4CB550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55C8FF"/>
                </a:solidFill>
              </a:defRPr>
            </a:pPr>
            <a:r>
              <a:rPr sz="2250" b="1">
                <a:solidFill>
                  <a:srgbClr val="55C8FF"/>
                </a:solidFill>
              </a:rPr>
              <a:t>基於 ESP32、重量感測與 Android</a:t>
            </a:r>
          </a:p>
          <a:p>
            <a:pPr algn="l">
              <a:buNone/>
              <a:defRPr sz="2250" b="1">
                <a:solidFill>
                  <a:srgbClr val="55C8FF"/>
                </a:solidFill>
              </a:defRPr>
            </a:pPr>
            <a:r>
              <a:rPr sz="2250" b="1">
                <a:solidFill>
                  <a:srgbClr val="55C8FF"/>
                </a:solidFill>
              </a:rPr>
              <a:t>之智慧水杯墊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52E013-469F-49CB-88DF-BDECA3251797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523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組長：06－鄭立強</a:t>
            </a:r>
          </a:p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組員：17－黃宣蓉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37EE37-2FC1-44C7-AE83-67C54918E3AA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D5E8F5"/>
                </a:solidFill>
              </a:defRPr>
            </a:pPr>
            <a:r>
              <a:rPr sz="1575" b="0">
                <a:solidFill>
                  <a:srgbClr val="D5E8F5"/>
                </a:solidFill>
              </a:rPr>
              <a:t>ESP32-S UNO × HX711 × MQTT × BLE × Wi‑Fi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2">
            <a:extLst>
              <a:ext uri="{FF2B5EF4-FFF2-40B4-BE49-F238E27FC236}">
                <a16:creationId xmlns:a16="http://schemas.microsoft.com/office/drawing/2014/main" id="{0E2164CF-6072-485B-BBD3-E98B6F61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人不在家中，也可即時操控家電</a:t>
            </a:r>
            <a:endParaRPr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4" name="內容預留位置 13">
            <a:extLst>
              <a:ext uri="{FF2B5EF4-FFF2-40B4-BE49-F238E27FC236}">
                <a16:creationId xmlns:a16="http://schemas.microsoft.com/office/drawing/2014/main" id="{CA58AD61-D2F0-4008-ACDC-B5F87595E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2276872"/>
            <a:ext cx="5796135" cy="3742928"/>
          </a:xfrm>
        </p:spPr>
        <p:txBody>
          <a:bodyPr/>
          <a:lstStyle/>
          <a:p>
            <a:r>
              <a:t>多功能智慧喇叭結合雲端資料庫</a:t>
            </a:r>
          </a:p>
          <a:p>
            <a:r>
              <a:t>以MQTT作為主要的通訊架構</a:t>
            </a:r>
          </a:p>
          <a:p>
            <a:r>
              <a:t>透過網頁或手機介面查看溫濕度資訊</a:t>
            </a:r>
          </a:p>
          <a:p>
            <a:r>
              <a:t>雲端操控除濕機、音樂播放開關</a:t>
            </a:r>
            <a:endParaRPr>
              <a:latin typeface="Microsoft JhengHei UI"/>
              <a:ea typeface="Microsoft JhengHei UI"/>
              <a:cs typeface="Microsoft JhengHei UI"/>
            </a:endParaRPr>
          </a:p>
        </p:txBody>
      </p:sp>
      <p:pic>
        <p:nvPicPr>
          <p:cNvPr id="29" name="image17.jpg"/>
          <p:cNvPicPr>
            <a:picLocks noChangeAspect="1"/>
          </p:cNvPicPr>
          <p:nvPr/>
        </p:nvPicPr>
        <p:blipFill>
          <a:blip r:embed="rId3"/>
          <a:srcRect l="23009" t="3765" r="18209" b="4404"/>
          <a:stretch>
            <a:fillRect/>
          </a:stretch>
        </p:blipFill>
        <p:spPr>
          <a:xfrm>
            <a:off x="7390556" y="2492896"/>
            <a:ext cx="4265910" cy="338437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A8BFD77-CEDA-43AE-8CFA-087BD1183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</p:spPr>
        <p:txBody>
          <a:bodyPr/>
          <a:lstStyle/>
          <a:p>
            <a:fld id="{2A013F82-EE5E-44EE-A61D-E31C6657F26F}" type="slidenum">
              <a:rPr/>
              <a:t>2</a:t>
            </a:fld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29A4FE-AE46-4D0E-9E7B-6C5B4CF912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C2BB55-7A75-4EBF-9066-793469F816A4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智慧水杯墊把飲水行為轉成可追蹤資料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5C72D0-ED13-4E5E-B5FE-3A87B8343A49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0B9AB7-984C-4A72-B4E3-F8387A128408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D45A7C-4517-486C-86F7-4B8B4846F2EE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55C8FF"/>
                </a:solidFill>
              </a:defRPr>
            </a:pPr>
            <a:r>
              <a:rPr sz="1875" b="1">
                <a:solidFill>
                  <a:srgbClr val="55C8FF"/>
                </a:solidFill>
              </a:rPr>
              <a:t>專題提要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F69B8B-51BD-4319-AF47-F2540ABF4395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6667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</a:t>
            </a:r>
            <a:r>
              <a:rPr sz="1875" b="0" dirty="0" err="1">
                <a:solidFill>
                  <a:srgbClr val="FFFFFF"/>
                </a:solidFill>
              </a:rPr>
              <a:t>荷重元量測杯子重量變化</a:t>
            </a:r>
            <a:endParaRPr sz="1875" b="0" dirty="0">
              <a:solidFill>
                <a:srgbClr val="FFFFFF"/>
              </a:solidFill>
            </a:endParaRPr>
          </a:p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HX711 </a:t>
            </a:r>
            <a:r>
              <a:rPr sz="1875" b="0" dirty="0" err="1">
                <a:solidFill>
                  <a:srgbClr val="FFFFFF"/>
                </a:solidFill>
              </a:rPr>
              <a:t>放大訊號並完成</a:t>
            </a:r>
            <a:r>
              <a:rPr sz="1875" b="0" dirty="0">
                <a:solidFill>
                  <a:srgbClr val="FFFFFF"/>
                </a:solidFill>
              </a:rPr>
              <a:t> 24-bit A/D </a:t>
            </a:r>
            <a:r>
              <a:rPr sz="1875" b="0" dirty="0" err="1">
                <a:solidFill>
                  <a:srgbClr val="FFFFFF"/>
                </a:solidFill>
              </a:rPr>
              <a:t>轉換</a:t>
            </a:r>
            <a:endParaRPr sz="1875" b="0" dirty="0">
              <a:solidFill>
                <a:srgbClr val="FFFFFF"/>
              </a:solidFill>
            </a:endParaRPr>
          </a:p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ESP32-S UNO </a:t>
            </a:r>
            <a:r>
              <a:rPr sz="1875" b="0" dirty="0" err="1">
                <a:solidFill>
                  <a:srgbClr val="FFFFFF"/>
                </a:solidFill>
              </a:rPr>
              <a:t>判斷拿起、放回與飲水量</a:t>
            </a:r>
            <a:endParaRPr sz="1875" b="0" dirty="0">
              <a:solidFill>
                <a:srgbClr val="FFFFFF"/>
              </a:solidFill>
            </a:endParaRPr>
          </a:p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BLE </a:t>
            </a:r>
            <a:r>
              <a:rPr sz="1875" b="0" dirty="0" err="1">
                <a:solidFill>
                  <a:srgbClr val="FFFFFF"/>
                </a:solidFill>
              </a:rPr>
              <a:t>用於裝置綁定與</a:t>
            </a:r>
            <a:r>
              <a:rPr sz="1875" b="0" dirty="0">
                <a:solidFill>
                  <a:srgbClr val="FFFFFF"/>
                </a:solidFill>
              </a:rPr>
              <a:t> Wi‑Fi </a:t>
            </a:r>
            <a:r>
              <a:rPr sz="1875" b="0" dirty="0" err="1">
                <a:solidFill>
                  <a:srgbClr val="FFFFFF"/>
                </a:solidFill>
              </a:rPr>
              <a:t>配網</a:t>
            </a:r>
            <a:endParaRPr sz="1875" b="0" dirty="0">
              <a:solidFill>
                <a:srgbClr val="FFFFFF"/>
              </a:solidFill>
            </a:endParaRPr>
          </a:p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Wi‑Fi </a:t>
            </a:r>
            <a:r>
              <a:rPr sz="1875" b="0" dirty="0" err="1">
                <a:solidFill>
                  <a:srgbClr val="FFFFFF"/>
                </a:solidFill>
              </a:rPr>
              <a:t>連接</a:t>
            </a:r>
            <a:r>
              <a:rPr sz="1875" b="0" dirty="0">
                <a:solidFill>
                  <a:srgbClr val="FFFFFF"/>
                </a:solidFill>
              </a:rPr>
              <a:t> MQTT </a:t>
            </a:r>
            <a:r>
              <a:rPr sz="1875" b="0" dirty="0" err="1">
                <a:solidFill>
                  <a:srgbClr val="FFFFFF"/>
                </a:solidFill>
              </a:rPr>
              <a:t>Broker，同步</a:t>
            </a:r>
            <a:r>
              <a:rPr sz="1875" b="0" dirty="0">
                <a:solidFill>
                  <a:srgbClr val="FFFFFF"/>
                </a:solidFill>
              </a:rPr>
              <a:t> </a:t>
            </a:r>
            <a:r>
              <a:rPr sz="1875" b="0" dirty="0" err="1">
                <a:solidFill>
                  <a:srgbClr val="FFFFFF"/>
                </a:solidFill>
              </a:rPr>
              <a:t>Android／Web</a:t>
            </a:r>
            <a:endParaRPr sz="1875" b="0" dirty="0">
              <a:solidFill>
                <a:srgbClr val="FFFFFF"/>
              </a:solidFill>
            </a:endParaRPr>
          </a:p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• </a:t>
            </a:r>
            <a:r>
              <a:rPr sz="1875" b="0" dirty="0" err="1">
                <a:solidFill>
                  <a:srgbClr val="FFFFFF"/>
                </a:solidFill>
              </a:rPr>
              <a:t>自動模式日常紀錄；手動模式校正與故障檢查</a:t>
            </a:r>
            <a:endParaRPr sz="1875" b="0" dirty="0">
              <a:solidFill>
                <a:srgbClr val="FFFFFF"/>
              </a:solidFill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5C52815-FF62-4887-8348-2CF6763D4533}"/>
              </a:ext>
            </a:extLst>
          </p:cNvPr>
          <p:cNvSpPr>
            <a:spLocks noGrp="1"/>
          </p:cNvSpPr>
          <p:nvPr/>
        </p:nvSpPr>
        <p:spPr>
          <a:xfrm>
            <a:off x="8096250" y="16954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EAF7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0A05AC-59C3-4F0B-9166-663BB3822EE6}"/>
              </a:ext>
            </a:extLst>
          </p:cNvPr>
          <p:cNvSpPr>
            <a:spLocks noGrp="1"/>
          </p:cNvSpPr>
          <p:nvPr/>
        </p:nvSpPr>
        <p:spPr>
          <a:xfrm>
            <a:off x="8382000" y="19240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147CC1"/>
                </a:solidFill>
              </a:defRPr>
            </a:pPr>
            <a:r>
              <a:rPr sz="2100" b="1">
                <a:solidFill>
                  <a:srgbClr val="147CC1"/>
                </a:solidFill>
              </a:rPr>
              <a:t>核心成果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17E43F-9E78-4F2B-A050-691AF1926136}"/>
              </a:ext>
            </a:extLst>
          </p:cNvPr>
          <p:cNvSpPr>
            <a:spLocks noGrp="1"/>
          </p:cNvSpPr>
          <p:nvPr/>
        </p:nvSpPr>
        <p:spPr>
          <a:xfrm>
            <a:off x="8524875" y="2571750"/>
            <a:ext cx="2286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102840"/>
                </a:solidFill>
              </a:defRPr>
            </a:pPr>
            <a:r>
              <a:rPr lang="zh-TW" altLang="en-US" sz="2025" b="1" dirty="0">
                <a:solidFill>
                  <a:srgbClr val="102840"/>
                </a:solidFill>
              </a:rPr>
              <a:t>友善介面</a:t>
            </a:r>
            <a:endParaRPr sz="2025" b="1" dirty="0">
              <a:solidFill>
                <a:srgbClr val="102840"/>
              </a:solidFill>
            </a:endParaRPr>
          </a:p>
          <a:p>
            <a:pPr algn="ctr">
              <a:buNone/>
              <a:defRPr sz="2025" b="1">
                <a:solidFill>
                  <a:srgbClr val="102840"/>
                </a:solidFill>
              </a:defRPr>
            </a:pPr>
            <a:r>
              <a:rPr sz="2025" b="1" dirty="0" err="1">
                <a:solidFill>
                  <a:srgbClr val="102840"/>
                </a:solidFill>
              </a:rPr>
              <a:t>即時顯示</a:t>
            </a:r>
            <a:endParaRPr sz="2025" b="1" dirty="0">
              <a:solidFill>
                <a:srgbClr val="102840"/>
              </a:solidFill>
            </a:endParaRPr>
          </a:p>
          <a:p>
            <a:pPr algn="ctr">
              <a:buNone/>
              <a:defRPr sz="2025" b="1">
                <a:solidFill>
                  <a:srgbClr val="102840"/>
                </a:solidFill>
              </a:defRPr>
            </a:pPr>
            <a:r>
              <a:rPr sz="2025" b="1" dirty="0" err="1">
                <a:solidFill>
                  <a:srgbClr val="102840"/>
                </a:solidFill>
              </a:rPr>
              <a:t>遠端同步</a:t>
            </a:r>
            <a:endParaRPr sz="2025" b="1" dirty="0">
              <a:solidFill>
                <a:srgbClr val="102840"/>
              </a:solidFill>
            </a:endParaRPr>
          </a:p>
          <a:p>
            <a:pPr algn="ctr">
              <a:buNone/>
              <a:defRPr sz="2025" b="1">
                <a:solidFill>
                  <a:srgbClr val="102840"/>
                </a:solidFill>
              </a:defRPr>
            </a:pPr>
            <a:r>
              <a:rPr sz="2025" b="1" dirty="0" err="1">
                <a:solidFill>
                  <a:srgbClr val="102840"/>
                </a:solidFill>
              </a:rPr>
              <a:t>保留測試模式</a:t>
            </a:r>
            <a:endParaRPr sz="2025" b="1" dirty="0">
              <a:solidFill>
                <a:srgbClr val="1028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DC7BBA-2A5B-435B-AB10-238FB5B6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96" y="-411246"/>
            <a:ext cx="9144001" cy="1371600"/>
          </a:xfrm>
        </p:spPr>
        <p:txBody>
          <a:bodyPr/>
          <a:lstStyle/>
          <a:p>
            <a:r>
              <a:t>所需材料</a:t>
            </a:r>
            <a:endParaRPr>
              <a:latin typeface="Microsoft JhengHei UI"/>
              <a:ea typeface="Microsoft JhengHei UI"/>
              <a:cs typeface="Microsoft JhengHei UI"/>
            </a:endParaRPr>
          </a:p>
        </p:txBody>
      </p:sp>
      <p:graphicFrame>
        <p:nvGraphicFramePr>
          <p:cNvPr id="86" name="表格 2"/>
          <p:cNvGraphicFramePr/>
          <p:nvPr/>
        </p:nvGraphicFramePr>
        <p:xfrm>
          <a:off x="693812" y="980728"/>
          <a:ext cx="5184576" cy="54030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8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材料需求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數量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說明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3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Raspberry Pi 3 </a:t>
                      </a:r>
                      <a:br/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Model B+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3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0.96寸 OLED顯示幕模組 </a:t>
                      </a:r>
                      <a:br/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12864 藍黃 直排針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3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HT"溫溼度感測模組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HT22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3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( 代替)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除濕機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7" name="ima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8401" y="1471132"/>
            <a:ext cx="1856029" cy="1080000"/>
          </a:xfrm>
          <a:prstGeom prst="rect">
            <a:avLst/>
          </a:prstGeom>
        </p:spPr>
      </p:pic>
      <p:pic>
        <p:nvPicPr>
          <p:cNvPr id="88" name="image1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63530" y="2784769"/>
            <a:ext cx="1289865" cy="1080000"/>
          </a:xfrm>
          <a:prstGeom prst="rect">
            <a:avLst/>
          </a:prstGeom>
        </p:spPr>
      </p:pic>
      <p:pic>
        <p:nvPicPr>
          <p:cNvPr id="89" name="image1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64922" y="4020966"/>
            <a:ext cx="1487079" cy="1080000"/>
          </a:xfrm>
          <a:prstGeom prst="rect">
            <a:avLst/>
          </a:prstGeom>
        </p:spPr>
      </p:pic>
      <p:pic>
        <p:nvPicPr>
          <p:cNvPr id="90" name="image1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9836" y="5257163"/>
            <a:ext cx="760227" cy="1080000"/>
          </a:xfrm>
          <a:prstGeom prst="rect">
            <a:avLst/>
          </a:prstGeom>
        </p:spPr>
      </p:pic>
      <p:pic>
        <p:nvPicPr>
          <p:cNvPr id="91" name="image1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133972" y="5427728"/>
            <a:ext cx="733926" cy="739693"/>
          </a:xfrm>
          <a:prstGeom prst="rect">
            <a:avLst/>
          </a:prstGeom>
        </p:spPr>
      </p:pic>
      <p:graphicFrame>
        <p:nvGraphicFramePr>
          <p:cNvPr id="92" name="表格 3"/>
          <p:cNvGraphicFramePr/>
          <p:nvPr/>
        </p:nvGraphicFramePr>
        <p:xfrm>
          <a:off x="5950396" y="980728"/>
          <a:ext cx="5184576" cy="5182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材料需求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數量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說明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Android手機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CloudMQTT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virtual machine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  <a:p>
                      <a:pPr algn="ctr">
                        <a:lnSpc>
                          <a:spcPts val="21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(WebServer)</a:t>
                      </a:r>
                      <a:br/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(安裝</a:t>
                      </a:r>
                      <a:r>
                        <a:rPr sz="1400">
                          <a:solidFill>
                            <a:srgbClr val="222222"/>
                          </a:solidFill>
                          <a:latin typeface="+mn-ea"/>
                          <a:ea typeface="+mn-ea"/>
                          <a:cs typeface="+mn-ea"/>
                        </a:rPr>
                        <a:t>Raspbian Buster with desktop</a:t>
                      </a:r>
                      <a:r>
                        <a:rPr sz="1400">
                          <a:latin typeface="+mn-ea"/>
                          <a:ea typeface="+mn-ea"/>
                          <a:cs typeface="+mn-ea"/>
                        </a:rPr>
                        <a:t>)</a:t>
                      </a:r>
                      <a:endParaRPr sz="11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3" name="image11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598468" y="1407584"/>
            <a:ext cx="890937" cy="1420369"/>
          </a:xfrm>
          <a:prstGeom prst="rect">
            <a:avLst/>
          </a:prstGeom>
        </p:spPr>
      </p:pic>
      <p:pic>
        <p:nvPicPr>
          <p:cNvPr id="94" name="image4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166420" y="3458718"/>
            <a:ext cx="2013596" cy="475942"/>
          </a:xfrm>
          <a:prstGeom prst="rect">
            <a:avLst/>
          </a:prstGeom>
        </p:spPr>
      </p:pic>
      <p:pic>
        <p:nvPicPr>
          <p:cNvPr id="95" name="image16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97532" y="4850922"/>
            <a:ext cx="1351371" cy="10512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C51D16A-6E6F-4C07-A58E-AE697A1A1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3</a:t>
            </a:fld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91A327-536A-482D-81E5-F99D279B32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C593ED-1457-4D13-9912-35EE1E5FA911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所需材料與開發平台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4CC6CB-D0FB-4169-9370-32558F8F920F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C82A2C-60B7-474E-8342-770E8F54FF3E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26CD84-0092-47C4-B6DF-A076FE2306A1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3562350" cy="43815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B216D9-E2C4-45B4-9777-E9A1C8DB523E}"/>
              </a:ext>
            </a:extLst>
          </p:cNvPr>
          <p:cNvSpPr>
            <a:spLocks noGrp="1"/>
          </p:cNvSpPr>
          <p:nvPr/>
        </p:nvSpPr>
        <p:spPr>
          <a:xfrm>
            <a:off x="704850" y="131445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材料需求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FEA436-B1EE-4D41-8538-9A2A0460A9C9}"/>
              </a:ext>
            </a:extLst>
          </p:cNvPr>
          <p:cNvSpPr>
            <a:spLocks noGrp="1"/>
          </p:cNvSpPr>
          <p:nvPr/>
        </p:nvSpPr>
        <p:spPr>
          <a:xfrm>
            <a:off x="4191000" y="1257300"/>
            <a:ext cx="952500" cy="43815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73E-0FA6-48D9-9633-A7786B118EF2}"/>
              </a:ext>
            </a:extLst>
          </p:cNvPr>
          <p:cNvSpPr>
            <a:spLocks noGrp="1"/>
          </p:cNvSpPr>
          <p:nvPr/>
        </p:nvSpPr>
        <p:spPr>
          <a:xfrm>
            <a:off x="4267200" y="13144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數量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6E87E7-B236-4BD2-861B-D80D36D133DC}"/>
              </a:ext>
            </a:extLst>
          </p:cNvPr>
          <p:cNvSpPr>
            <a:spLocks noGrp="1"/>
          </p:cNvSpPr>
          <p:nvPr/>
        </p:nvSpPr>
        <p:spPr>
          <a:xfrm>
            <a:off x="5143500" y="1257300"/>
            <a:ext cx="6381750" cy="43815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79D6C7-4ACE-4FF0-821A-89C16F1D08BD}"/>
              </a:ext>
            </a:extLst>
          </p:cNvPr>
          <p:cNvSpPr>
            <a:spLocks noGrp="1"/>
          </p:cNvSpPr>
          <p:nvPr/>
        </p:nvSpPr>
        <p:spPr>
          <a:xfrm>
            <a:off x="5219700" y="1314450"/>
            <a:ext cx="622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說明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30A887-B69D-4972-A0B2-3CF4116CC6C2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35623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DDAD2C-24E8-4938-8F15-D0F4EE94D80B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荷重元 Load Cell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D306F4-5F0D-497A-8558-E8DB50A76F7A}"/>
              </a:ext>
            </a:extLst>
          </p:cNvPr>
          <p:cNvSpPr>
            <a:spLocks noGrp="1"/>
          </p:cNvSpPr>
          <p:nvPr/>
        </p:nvSpPr>
        <p:spPr>
          <a:xfrm>
            <a:off x="4191000" y="1695450"/>
            <a:ext cx="95250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0C3554-72F2-4E9A-BC18-674B07BACCBB}"/>
              </a:ext>
            </a:extLst>
          </p:cNvPr>
          <p:cNvSpPr>
            <a:spLocks noGrp="1"/>
          </p:cNvSpPr>
          <p:nvPr/>
        </p:nvSpPr>
        <p:spPr>
          <a:xfrm>
            <a:off x="4286250" y="17430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57D2CB5-8B1D-4529-9B83-947A1D57C458}"/>
              </a:ext>
            </a:extLst>
          </p:cNvPr>
          <p:cNvSpPr>
            <a:spLocks noGrp="1"/>
          </p:cNvSpPr>
          <p:nvPr/>
        </p:nvSpPr>
        <p:spPr>
          <a:xfrm>
            <a:off x="5143500" y="1695450"/>
            <a:ext cx="63817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B94ECCE-BF30-47FE-BF5C-2BF0BB210541}"/>
              </a:ext>
            </a:extLst>
          </p:cNvPr>
          <p:cNvSpPr>
            <a:spLocks noGrp="1"/>
          </p:cNvSpPr>
          <p:nvPr/>
        </p:nvSpPr>
        <p:spPr>
          <a:xfrm>
            <a:off x="5238750" y="17430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量測杯子與水的重量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CE3BC0-FEB2-4D51-A40E-E4C364F0536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35623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7D1090-6B7A-4CD6-9D0C-D0F7CB5EDE9F}"/>
              </a:ext>
            </a:extLst>
          </p:cNvPr>
          <p:cNvSpPr>
            <a:spLocks noGrp="1"/>
          </p:cNvSpPr>
          <p:nvPr/>
        </p:nvSpPr>
        <p:spPr>
          <a:xfrm>
            <a:off x="723900" y="22764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HX711 模組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649B55-BDCE-4E38-AF26-D8C5C54BEDB1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95250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2A58DA-8F07-4D8B-83F7-F91FA8BFC84A}"/>
              </a:ext>
            </a:extLst>
          </p:cNvPr>
          <p:cNvSpPr>
            <a:spLocks noGrp="1"/>
          </p:cNvSpPr>
          <p:nvPr/>
        </p:nvSpPr>
        <p:spPr>
          <a:xfrm>
            <a:off x="4286250" y="22764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17D175-30D3-44BD-96F5-1381132EEFC7}"/>
              </a:ext>
            </a:extLst>
          </p:cNvPr>
          <p:cNvSpPr>
            <a:spLocks noGrp="1"/>
          </p:cNvSpPr>
          <p:nvPr/>
        </p:nvSpPr>
        <p:spPr>
          <a:xfrm>
            <a:off x="5143500" y="2228850"/>
            <a:ext cx="63817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C878094-F856-44A6-A002-088EDCA9260C}"/>
              </a:ext>
            </a:extLst>
          </p:cNvPr>
          <p:cNvSpPr>
            <a:spLocks noGrp="1"/>
          </p:cNvSpPr>
          <p:nvPr/>
        </p:nvSpPr>
        <p:spPr>
          <a:xfrm>
            <a:off x="5238750" y="22764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24-bit ADC＋可程式增益放大器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A8136B-B769-4A15-B02A-A33968881611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35623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8D043EB-B115-4845-A21B-353F19D5F35C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ESP32-S UNO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7F0A7C-4AFA-49D7-BAF0-473CDE6D4520}"/>
              </a:ext>
            </a:extLst>
          </p:cNvPr>
          <p:cNvSpPr>
            <a:spLocks noGrp="1"/>
          </p:cNvSpPr>
          <p:nvPr/>
        </p:nvSpPr>
        <p:spPr>
          <a:xfrm>
            <a:off x="4191000" y="2762250"/>
            <a:ext cx="95250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B86E3C8-4292-4FA7-BC5B-612DC6DD16F6}"/>
              </a:ext>
            </a:extLst>
          </p:cNvPr>
          <p:cNvSpPr>
            <a:spLocks noGrp="1"/>
          </p:cNvSpPr>
          <p:nvPr/>
        </p:nvSpPr>
        <p:spPr>
          <a:xfrm>
            <a:off x="4286250" y="28098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06A860B-5DD6-4FE3-B1C0-F8766832697B}"/>
              </a:ext>
            </a:extLst>
          </p:cNvPr>
          <p:cNvSpPr>
            <a:spLocks noGrp="1"/>
          </p:cNvSpPr>
          <p:nvPr/>
        </p:nvSpPr>
        <p:spPr>
          <a:xfrm>
            <a:off x="5143500" y="2762250"/>
            <a:ext cx="63817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65CF6FA-574C-431D-9D81-3DF760593FE3}"/>
              </a:ext>
            </a:extLst>
          </p:cNvPr>
          <p:cNvSpPr>
            <a:spLocks noGrp="1"/>
          </p:cNvSpPr>
          <p:nvPr/>
        </p:nvSpPr>
        <p:spPr>
          <a:xfrm>
            <a:off x="5238750" y="28098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控制、計算、BLE、Wi‑Fi、MQTT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C73E9D5-0218-4DA2-A3C5-396057BEB7E1}"/>
              </a:ext>
            </a:extLst>
          </p:cNvPr>
          <p:cNvSpPr>
            <a:spLocks noGrp="1"/>
          </p:cNvSpPr>
          <p:nvPr/>
        </p:nvSpPr>
        <p:spPr>
          <a:xfrm>
            <a:off x="628650" y="3295650"/>
            <a:ext cx="35623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46844B2-A2EE-4B4D-AB5F-1220333049ED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Android 手機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2DD9716-F93F-426B-8091-82DB07065835}"/>
              </a:ext>
            </a:extLst>
          </p:cNvPr>
          <p:cNvSpPr>
            <a:spLocks noGrp="1"/>
          </p:cNvSpPr>
          <p:nvPr/>
        </p:nvSpPr>
        <p:spPr>
          <a:xfrm>
            <a:off x="4191000" y="3295650"/>
            <a:ext cx="95250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4C93954-7D59-41F7-BF95-15A323A2CCB6}"/>
              </a:ext>
            </a:extLst>
          </p:cNvPr>
          <p:cNvSpPr>
            <a:spLocks noGrp="1"/>
          </p:cNvSpPr>
          <p:nvPr/>
        </p:nvSpPr>
        <p:spPr>
          <a:xfrm>
            <a:off x="4286250" y="33432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2E44134-8F9A-434E-8961-0EC29BF33B8D}"/>
              </a:ext>
            </a:extLst>
          </p:cNvPr>
          <p:cNvSpPr>
            <a:spLocks noGrp="1"/>
          </p:cNvSpPr>
          <p:nvPr/>
        </p:nvSpPr>
        <p:spPr>
          <a:xfrm>
            <a:off x="5143500" y="3295650"/>
            <a:ext cx="63817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C65AE0E-E897-431B-8CD0-113343280188}"/>
              </a:ext>
            </a:extLst>
          </p:cNvPr>
          <p:cNvSpPr>
            <a:spLocks noGrp="1"/>
          </p:cNvSpPr>
          <p:nvPr/>
        </p:nvSpPr>
        <p:spPr>
          <a:xfrm>
            <a:off x="5238750" y="33432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裝置綁定、配網、顯示與紀錄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E4069E3-9FC8-4640-9C56-1061D5DEC21B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35623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B4C538-09EF-480D-9240-40A96C142537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Wi‑Fi 路由器／AP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6896EF1-F8E5-4185-ADEE-1DA35364878F}"/>
              </a:ext>
            </a:extLst>
          </p:cNvPr>
          <p:cNvSpPr>
            <a:spLocks noGrp="1"/>
          </p:cNvSpPr>
          <p:nvPr/>
        </p:nvSpPr>
        <p:spPr>
          <a:xfrm>
            <a:off x="4191000" y="3829050"/>
            <a:ext cx="95250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2329B57-9AF2-4A5E-B211-257289A2DDD8}"/>
              </a:ext>
            </a:extLst>
          </p:cNvPr>
          <p:cNvSpPr>
            <a:spLocks noGrp="1"/>
          </p:cNvSpPr>
          <p:nvPr/>
        </p:nvSpPr>
        <p:spPr>
          <a:xfrm>
            <a:off x="4286250" y="38766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A3ECD50-85E8-447B-A704-133C83A56396}"/>
              </a:ext>
            </a:extLst>
          </p:cNvPr>
          <p:cNvSpPr>
            <a:spLocks noGrp="1"/>
          </p:cNvSpPr>
          <p:nvPr/>
        </p:nvSpPr>
        <p:spPr>
          <a:xfrm>
            <a:off x="5143500" y="3829050"/>
            <a:ext cx="63817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C9B7CD0-64B2-4C90-983B-35020B23705A}"/>
              </a:ext>
            </a:extLst>
          </p:cNvPr>
          <p:cNvSpPr>
            <a:spLocks noGrp="1"/>
          </p:cNvSpPr>
          <p:nvPr/>
        </p:nvSpPr>
        <p:spPr>
          <a:xfrm>
            <a:off x="5238750" y="38766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使用 2.4 GHz 頻段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A712AD8-0067-4974-B92C-071AAFA4D10B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35623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23A6497-8BB5-4560-8EF0-7B0570AC626A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MQTT Broker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9C3043C-B53B-4D1D-9DC6-B7F095CA7A71}"/>
              </a:ext>
            </a:extLst>
          </p:cNvPr>
          <p:cNvSpPr>
            <a:spLocks noGrp="1"/>
          </p:cNvSpPr>
          <p:nvPr/>
        </p:nvSpPr>
        <p:spPr>
          <a:xfrm>
            <a:off x="4191000" y="4362450"/>
            <a:ext cx="95250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42AC7F7-441C-4150-8312-1E94E0FA8E93}"/>
              </a:ext>
            </a:extLst>
          </p:cNvPr>
          <p:cNvSpPr>
            <a:spLocks noGrp="1"/>
          </p:cNvSpPr>
          <p:nvPr/>
        </p:nvSpPr>
        <p:spPr>
          <a:xfrm>
            <a:off x="4286250" y="44100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EF15E67-343B-4F59-8679-2241E0C51617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63817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8A3C723-E586-4573-A0A8-B514C13D6530}"/>
              </a:ext>
            </a:extLst>
          </p:cNvPr>
          <p:cNvSpPr>
            <a:spLocks noGrp="1"/>
          </p:cNvSpPr>
          <p:nvPr/>
        </p:nvSpPr>
        <p:spPr>
          <a:xfrm>
            <a:off x="5238750" y="44100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發布／訂閱訊息交換中心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9325E62-9FFB-40E5-BB46-FD4869625021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35623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AC9906F-CC08-4449-B8A8-46FAC0672974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Web 前端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1ED1D6D-A140-4722-9F10-DABC518558DF}"/>
              </a:ext>
            </a:extLst>
          </p:cNvPr>
          <p:cNvSpPr>
            <a:spLocks noGrp="1"/>
          </p:cNvSpPr>
          <p:nvPr/>
        </p:nvSpPr>
        <p:spPr>
          <a:xfrm>
            <a:off x="4191000" y="4895850"/>
            <a:ext cx="95250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4DDD4BF-9DCC-4E84-965B-76D28E9F637B}"/>
              </a:ext>
            </a:extLst>
          </p:cNvPr>
          <p:cNvSpPr>
            <a:spLocks noGrp="1"/>
          </p:cNvSpPr>
          <p:nvPr/>
        </p:nvSpPr>
        <p:spPr>
          <a:xfrm>
            <a:off x="4286250" y="49434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6B1649C-E373-4A50-BD43-238744747F27}"/>
              </a:ext>
            </a:extLst>
          </p:cNvPr>
          <p:cNvSpPr>
            <a:spLocks noGrp="1"/>
          </p:cNvSpPr>
          <p:nvPr/>
        </p:nvSpPr>
        <p:spPr>
          <a:xfrm>
            <a:off x="5143500" y="4895850"/>
            <a:ext cx="6381750" cy="533400"/>
          </a:xfrm>
          <a:prstGeom prst="rect">
            <a:avLst/>
          </a:prstGeom>
          <a:solidFill>
            <a:srgbClr val="DFF3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2389344-04E7-40A2-B148-4BA13CCA3DDB}"/>
              </a:ext>
            </a:extLst>
          </p:cNvPr>
          <p:cNvSpPr>
            <a:spLocks noGrp="1"/>
          </p:cNvSpPr>
          <p:nvPr/>
        </p:nvSpPr>
        <p:spPr>
          <a:xfrm>
            <a:off x="5238750" y="49434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跨平台檢視與除錯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1316E3F-3F99-4E70-9163-6B128891CD8E}"/>
              </a:ext>
            </a:extLst>
          </p:cNvPr>
          <p:cNvSpPr>
            <a:spLocks noGrp="1"/>
          </p:cNvSpPr>
          <p:nvPr/>
        </p:nvSpPr>
        <p:spPr>
          <a:xfrm>
            <a:off x="628650" y="5429250"/>
            <a:ext cx="35623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673F0CF-4F81-4633-938C-B3B02202F990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3371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USB 電源／外殼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CEC06F0-46EC-4F88-BC0F-C35E3A0278A0}"/>
              </a:ext>
            </a:extLst>
          </p:cNvPr>
          <p:cNvSpPr>
            <a:spLocks noGrp="1"/>
          </p:cNvSpPr>
          <p:nvPr/>
        </p:nvSpPr>
        <p:spPr>
          <a:xfrm>
            <a:off x="4191000" y="5429250"/>
            <a:ext cx="95250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BE54C0-7702-47DD-A1C4-6773C686D0CC}"/>
              </a:ext>
            </a:extLst>
          </p:cNvPr>
          <p:cNvSpPr>
            <a:spLocks noGrp="1"/>
          </p:cNvSpPr>
          <p:nvPr/>
        </p:nvSpPr>
        <p:spPr>
          <a:xfrm>
            <a:off x="4286250" y="54768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1 組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DABAEB4-B4D8-42E1-BC78-7DEBCB2E992A}"/>
              </a:ext>
            </a:extLst>
          </p:cNvPr>
          <p:cNvSpPr>
            <a:spLocks noGrp="1"/>
          </p:cNvSpPr>
          <p:nvPr/>
        </p:nvSpPr>
        <p:spPr>
          <a:xfrm>
            <a:off x="5143500" y="5429250"/>
            <a:ext cx="6381750" cy="533400"/>
          </a:xfrm>
          <a:prstGeom prst="rect">
            <a:avLst/>
          </a:prstGeom>
          <a:solidFill>
            <a:srgbClr val="F7FBFF"/>
          </a:solidFill>
          <a:ln w="14288">
            <a:solidFill>
              <a:srgbClr val="A9DFFF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07F9D2E-5534-45D4-AE4E-191C0D5E37D5}"/>
              </a:ext>
            </a:extLst>
          </p:cNvPr>
          <p:cNvSpPr>
            <a:spLocks noGrp="1"/>
          </p:cNvSpPr>
          <p:nvPr/>
        </p:nvSpPr>
        <p:spPr>
          <a:xfrm>
            <a:off x="5238750" y="5476875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供電與水杯墊機構</a:t>
            </a:r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智慧水杯墊彩色系統架構圖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9392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9D33BEA-1BFE-127A-1966-72D71BBEB886}"/>
              </a:ext>
            </a:extLst>
          </p:cNvPr>
          <p:cNvSpPr txBox="1"/>
          <p:nvPr/>
        </p:nvSpPr>
        <p:spPr>
          <a:xfrm>
            <a:off x="10702924" y="522920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有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148232D-5B2B-9D11-4243-A8978DA2DCD0}"/>
              </a:ext>
            </a:extLst>
          </p:cNvPr>
          <p:cNvSpPr/>
          <p:nvPr/>
        </p:nvSpPr>
        <p:spPr>
          <a:xfrm>
            <a:off x="9166628" y="-37239"/>
            <a:ext cx="3359143" cy="5535872"/>
          </a:xfrm>
          <a:prstGeom prst="ellipse">
            <a:avLst/>
          </a:prstGeom>
          <a:noFill/>
          <a:ln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FA34C1-0474-9347-72B8-715F812957C0}"/>
              </a:ext>
            </a:extLst>
          </p:cNvPr>
          <p:cNvSpPr txBox="1"/>
          <p:nvPr/>
        </p:nvSpPr>
        <p:spPr>
          <a:xfrm>
            <a:off x="10342884" y="5244716"/>
            <a:ext cx="20466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solidFill>
                  <a:schemeClr val="accent2"/>
                </a:solidFill>
              </a:rPr>
              <a:t>Django+</a:t>
            </a:r>
            <a:r>
              <a:rPr lang="zh-TW" altLang="zh-TW" sz="1050" dirty="0">
                <a:solidFill>
                  <a:schemeClr val="accent2"/>
                </a:solidFill>
              </a:rPr>
              <a:t>PostgreSQL</a:t>
            </a:r>
            <a:endParaRPr lang="zh-TW" altLang="en-US" sz="1050" dirty="0">
              <a:solidFill>
                <a:schemeClr val="accent2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56889C4-F568-D29B-1316-B90325C23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679" y="2541438"/>
            <a:ext cx="864096" cy="60410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D0FBB06-F857-9546-F74A-1F7ABF64B1AC}"/>
              </a:ext>
            </a:extLst>
          </p:cNvPr>
          <p:cNvSpPr/>
          <p:nvPr/>
        </p:nvSpPr>
        <p:spPr>
          <a:xfrm>
            <a:off x="8838224" y="750221"/>
            <a:ext cx="37294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Render.com</a:t>
            </a:r>
            <a:r>
              <a:rPr lang="zh-TW" altLang="en-US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服務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F0DD41-17CB-1077-83FB-9FD22DDF41EA}"/>
              </a:ext>
            </a:extLst>
          </p:cNvPr>
          <p:cNvSpPr/>
          <p:nvPr/>
        </p:nvSpPr>
        <p:spPr>
          <a:xfrm>
            <a:off x="7210145" y="2245200"/>
            <a:ext cx="21260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zh-TW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Sub:esp32/recode</a:t>
            </a:r>
            <a:endParaRPr lang="zh-TW" altLang="en-U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695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F2F3-B172-7C4E-815F-2C471D98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BDFC8ED-24B2-832B-6688-19ABB5E66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4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多功能智慧音箱運作影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360040"/>
            <a:ext cx="10959711" cy="616530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9AEFA7-4B9D-4F3D-8D7E-DB7E814D6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rPr/>
              <a:t>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1740B5-1C16-435C-9A0B-A29F15893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01BA80-55C2-4C06-8D94-5430F0E3AA85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硬體架構｜HX711 是 ADC，荷重元才是感測器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405DEB-3624-4425-941B-279907768A7E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9F3DF-2636-411A-92F6-A31694029368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5</a:t>
            </a:r>
          </a:p>
        </p:txBody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572E9322-2690-4896-9017-C7B53BA69B4A}"/>
              </a:ext>
            </a:extLst>
          </p:cNvPr>
          <p:cNvSpPr>
            <a:spLocks noGrp="1"/>
          </p:cNvSpPr>
          <p:nvPr/>
        </p:nvSpPr>
        <p:spPr>
          <a:xfrm>
            <a:off x="2381250" y="3143250"/>
            <a:ext cx="1143000" cy="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13BDBA-D740-4EAF-AD04-D017915A47ED}"/>
              </a:ext>
            </a:extLst>
          </p:cNvPr>
          <p:cNvSpPr>
            <a:spLocks noGrp="1"/>
          </p:cNvSpPr>
          <p:nvPr/>
        </p:nvSpPr>
        <p:spPr>
          <a:xfrm>
            <a:off x="2333625" y="2952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微電壓</a:t>
            </a:r>
          </a:p>
        </p:txBody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63CB4554-C95C-463F-9907-ED88F8938EB9}"/>
              </a:ext>
            </a:extLst>
          </p:cNvPr>
          <p:cNvSpPr>
            <a:spLocks noGrp="1"/>
          </p:cNvSpPr>
          <p:nvPr/>
        </p:nvSpPr>
        <p:spPr>
          <a:xfrm>
            <a:off x="5429250" y="3143250"/>
            <a:ext cx="1143000" cy="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53B414-42CD-4F89-8B13-32FD1F1D786E}"/>
              </a:ext>
            </a:extLst>
          </p:cNvPr>
          <p:cNvSpPr>
            <a:spLocks noGrp="1"/>
          </p:cNvSpPr>
          <p:nvPr/>
        </p:nvSpPr>
        <p:spPr>
          <a:xfrm>
            <a:off x="5381625" y="2952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DT／SCK</a:t>
            </a: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FCAD0700-9F13-4C7F-AB3C-5491AE6B8F82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1143000" cy="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357C9E-9A2E-40C1-BE22-3EB8EF3FE9A7}"/>
              </a:ext>
            </a:extLst>
          </p:cNvPr>
          <p:cNvSpPr>
            <a:spLocks noGrp="1"/>
          </p:cNvSpPr>
          <p:nvPr/>
        </p:nvSpPr>
        <p:spPr>
          <a:xfrm>
            <a:off x="8524875" y="2952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資料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210729-421F-4C41-BB4E-BD85349CA15E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714500" cy="1333500"/>
          </a:xfrm>
          <a:prstGeom prst="roundRect">
            <a:avLst>
              <a:gd name="adj" fmla="val 5714"/>
            </a:avLst>
          </a:prstGeom>
          <a:solidFill>
            <a:srgbClr val="E9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1D04F5-F8ED-4AD5-BF51-B30DB811313F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1524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水杯＋荷重元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重量 → 類比訊號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B2AE4B6-EFEE-4E5B-A8D7-96610AF154E4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E7E1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E22B8A-77A2-49BF-A75E-1D07222372B6}"/>
              </a:ext>
            </a:extLst>
          </p:cNvPr>
          <p:cNvSpPr>
            <a:spLocks noGrp="1"/>
          </p:cNvSpPr>
          <p:nvPr/>
        </p:nvSpPr>
        <p:spPr>
          <a:xfrm>
            <a:off x="3619500" y="2552700"/>
            <a:ext cx="1714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HX711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24-bit ADC＋PGA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4A8A399-954E-42FE-A24C-110CC048495A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2000250" cy="1333500"/>
          </a:xfrm>
          <a:prstGeom prst="roundRect">
            <a:avLst>
              <a:gd name="adj" fmla="val 5714"/>
            </a:avLst>
          </a:prstGeom>
          <a:solidFill>
            <a:srgbClr val="DDF9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D5E87A-227C-435D-A345-FE275779EA39}"/>
              </a:ext>
            </a:extLst>
          </p:cNvPr>
          <p:cNvSpPr>
            <a:spLocks noGrp="1"/>
          </p:cNvSpPr>
          <p:nvPr/>
        </p:nvSpPr>
        <p:spPr>
          <a:xfrm>
            <a:off x="6667500" y="2552700"/>
            <a:ext cx="1809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ESP32-S UNO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濾波＋狀態機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0E81FE1-F502-4CEF-90F7-F7A96F102C47}"/>
              </a:ext>
            </a:extLst>
          </p:cNvPr>
          <p:cNvSpPr>
            <a:spLocks noGrp="1"/>
          </p:cNvSpPr>
          <p:nvPr/>
        </p:nvSpPr>
        <p:spPr>
          <a:xfrm>
            <a:off x="9715500" y="2476500"/>
            <a:ext cx="1809750" cy="1333500"/>
          </a:xfrm>
          <a:prstGeom prst="roundRect">
            <a:avLst>
              <a:gd name="adj" fmla="val 5714"/>
            </a:avLst>
          </a:prstGeom>
          <a:solidFill>
            <a:srgbClr val="FFF1D8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6658A9-1E24-4E10-A4C5-61C7A65A7B1A}"/>
              </a:ext>
            </a:extLst>
          </p:cNvPr>
          <p:cNvSpPr>
            <a:spLocks noGrp="1"/>
          </p:cNvSpPr>
          <p:nvPr/>
        </p:nvSpPr>
        <p:spPr>
          <a:xfrm>
            <a:off x="9810750" y="2552700"/>
            <a:ext cx="1619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BLE／Wi‑Fi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傳送 App／Broker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A078292-5AED-4E3C-808B-705C2DFA0894}"/>
              </a:ext>
            </a:extLst>
          </p:cNvPr>
          <p:cNvSpPr>
            <a:spLocks noGrp="1"/>
          </p:cNvSpPr>
          <p:nvPr/>
        </p:nvSpPr>
        <p:spPr>
          <a:xfrm>
            <a:off x="1524000" y="4533900"/>
            <a:ext cx="9144000" cy="895350"/>
          </a:xfrm>
          <a:prstGeom prst="roundRect">
            <a:avLst>
              <a:gd name="adj" fmla="val 8511"/>
            </a:avLst>
          </a:prstGeom>
          <a:solidFill>
            <a:srgbClr val="EAF7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CA0041-9893-43C0-8E5F-9EAF3283FD7A}"/>
              </a:ext>
            </a:extLst>
          </p:cNvPr>
          <p:cNvSpPr>
            <a:spLocks noGrp="1"/>
          </p:cNvSpPr>
          <p:nvPr/>
        </p:nvSpPr>
        <p:spPr>
          <a:xfrm>
            <a:off x="1752600" y="4648200"/>
            <a:ext cx="8686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102840"/>
                </a:solidFill>
              </a:defRPr>
            </a:pPr>
            <a:r>
              <a:rPr sz="1725" b="1">
                <a:solidFill>
                  <a:srgbClr val="102840"/>
                </a:solidFill>
              </a:rPr>
              <a:t>量測鏈：荷重元輸出微小差動電壓 → HX711 放大與數位化 → ESP32 計算克數與飲水量</a:t>
            </a:r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BD3D6E8-1D3A-4148-9368-552A1758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-318864"/>
            <a:ext cx="9144001" cy="1371600"/>
          </a:xfrm>
        </p:spPr>
        <p:txBody>
          <a:bodyPr/>
          <a:lstStyle/>
          <a:p>
            <a:r>
              <a:t>主要流程圖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1D4C91-9518-4AF0-8623-3CC367398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7</a:t>
            </a:fld>
            <a:endParaRPr/>
          </a:p>
        </p:txBody>
      </p:sp>
      <p:pic>
        <p:nvPicPr>
          <p:cNvPr id="40" name="圖片 4"/>
          <p:cNvPicPr>
            <a:picLocks noChangeAspect="1"/>
          </p:cNvPicPr>
          <p:nvPr/>
        </p:nvPicPr>
        <p:blipFill>
          <a:blip r:embed="rId3"/>
          <a:srcRect b="75053"/>
          <a:stretch>
            <a:fillRect/>
          </a:stretch>
        </p:blipFill>
        <p:spPr>
          <a:xfrm>
            <a:off x="909836" y="1412776"/>
            <a:ext cx="3816424" cy="4248472"/>
          </a:xfrm>
          <a:prstGeom prst="rect">
            <a:avLst/>
          </a:prstGeom>
          <a:ln>
            <a:noFill/>
          </a:ln>
        </p:spPr>
      </p:pic>
      <p:pic>
        <p:nvPicPr>
          <p:cNvPr id="41" name="Picture 2"/>
          <p:cNvPicPr>
            <a:picLocks noChangeAspect="1"/>
          </p:cNvPicPr>
          <p:nvPr/>
        </p:nvPicPr>
        <p:blipFill>
          <a:blip r:embed="rId3"/>
          <a:srcRect t="30824" b="38104"/>
          <a:stretch>
            <a:fillRect/>
          </a:stretch>
        </p:blipFill>
        <p:spPr>
          <a:xfrm>
            <a:off x="6310436" y="1340768"/>
            <a:ext cx="3530873" cy="4623445"/>
          </a:xfrm>
          <a:prstGeom prst="rect">
            <a:avLst/>
          </a:prstGeom>
          <a:ln>
            <a:noFill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5D7731C-41D0-4639-9114-323865FB59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3A6610-BC3F-474F-99BC-CC7A30FF2F2F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主要流程圖｜原生自動判別與手動測試並存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4D1D65-7DAB-475C-B9AE-56ACA1E2E3FA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44D4F0-341B-4087-8955-78F4B859BC2E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69F5AF0-F4EA-4C8D-B983-5C2893235681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1087100" cy="5048250"/>
          </a:xfrm>
          <a:prstGeom prst="roundRect">
            <a:avLst>
              <a:gd name="adj" fmla="val 2264"/>
            </a:avLst>
          </a:prstGeom>
          <a:ln w="14288">
            <a:solidFill>
              <a:srgbClr val="79CF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B3F57B-9174-4737-AD0F-D9B42FBEB6D5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自動模式（只有 HX711）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DE2206-EF88-47A8-884C-ED1D78EB1095}"/>
              </a:ext>
            </a:extLst>
          </p:cNvPr>
          <p:cNvSpPr>
            <a:spLocks noGrp="1"/>
          </p:cNvSpPr>
          <p:nvPr/>
        </p:nvSpPr>
        <p:spPr>
          <a:xfrm>
            <a:off x="6819900" y="13811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C06A00"/>
                </a:solidFill>
              </a:defRPr>
            </a:pPr>
            <a:r>
              <a:rPr sz="1725" b="1">
                <a:solidFill>
                  <a:srgbClr val="C06A00"/>
                </a:solidFill>
              </a:rPr>
              <a:t>手動模式（HTML 測試）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83A5809-9610-4C4A-974A-68F4434B4E1A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864709-BAD2-47EC-B47C-366BAE3D85B8}"/>
              </a:ext>
            </a:extLst>
          </p:cNvPr>
          <p:cNvSpPr>
            <a:spLocks noGrp="1"/>
          </p:cNvSpPr>
          <p:nvPr/>
        </p:nvSpPr>
        <p:spPr>
          <a:xfrm>
            <a:off x="1047750" y="20288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1. 杯子重量穩定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A056853-BFBC-437D-9A9D-9722405DA51B}"/>
              </a:ext>
            </a:extLst>
          </p:cNvPr>
          <p:cNvSpPr>
            <a:spLocks noGrp="1"/>
          </p:cNvSpPr>
          <p:nvPr/>
        </p:nvSpPr>
        <p:spPr>
          <a:xfrm>
            <a:off x="6896100" y="19526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E1501B-4451-496C-92A6-7AC68F5DA03E}"/>
              </a:ext>
            </a:extLst>
          </p:cNvPr>
          <p:cNvSpPr>
            <a:spLocks noGrp="1"/>
          </p:cNvSpPr>
          <p:nvPr/>
        </p:nvSpPr>
        <p:spPr>
          <a:xfrm>
            <a:off x="6991350" y="20288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1. TARE 歸零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5ED0CA5B-95A7-4122-A698-1299070A94E8}"/>
              </a:ext>
            </a:extLst>
          </p:cNvPr>
          <p:cNvSpPr>
            <a:spLocks noGrp="1"/>
          </p:cNvSpPr>
          <p:nvPr/>
        </p:nvSpPr>
        <p:spPr>
          <a:xfrm>
            <a:off x="952500" y="269557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48209A-47CE-46FF-909C-A8AEA3E5FF85}"/>
              </a:ext>
            </a:extLst>
          </p:cNvPr>
          <p:cNvSpPr>
            <a:spLocks noGrp="1"/>
          </p:cNvSpPr>
          <p:nvPr/>
        </p:nvSpPr>
        <p:spPr>
          <a:xfrm>
            <a:off x="1047750" y="27717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2. 自動建立基準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7674138-CC5C-4EC6-A73E-A35091296DFD}"/>
              </a:ext>
            </a:extLst>
          </p:cNvPr>
          <p:cNvSpPr>
            <a:spLocks noGrp="1"/>
          </p:cNvSpPr>
          <p:nvPr/>
        </p:nvSpPr>
        <p:spPr>
          <a:xfrm>
            <a:off x="6896100" y="269557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0954FA-C6D2-4D3A-AF11-71EC7230E66B}"/>
              </a:ext>
            </a:extLst>
          </p:cNvPr>
          <p:cNvSpPr>
            <a:spLocks noGrp="1"/>
          </p:cNvSpPr>
          <p:nvPr/>
        </p:nvSpPr>
        <p:spPr>
          <a:xfrm>
            <a:off x="6991350" y="27717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2. START 記錄起始重量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FBF233B5-BC59-4250-874A-EE95322A8E30}"/>
              </a:ext>
            </a:extLst>
          </p:cNvPr>
          <p:cNvSpPr>
            <a:spLocks noGrp="1"/>
          </p:cNvSpPr>
          <p:nvPr/>
        </p:nvSpPr>
        <p:spPr>
          <a:xfrm>
            <a:off x="952500" y="34385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E88E15-E5F3-4004-BA11-5DC248D241D1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3. 判斷拿起／飲用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1A1AAA68-B3F7-408D-97DD-74F0D32E1C7E}"/>
              </a:ext>
            </a:extLst>
          </p:cNvPr>
          <p:cNvSpPr>
            <a:spLocks noGrp="1"/>
          </p:cNvSpPr>
          <p:nvPr/>
        </p:nvSpPr>
        <p:spPr>
          <a:xfrm>
            <a:off x="6896100" y="34385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7B0000-0B65-4307-84CE-00BC7E421D76}"/>
              </a:ext>
            </a:extLst>
          </p:cNvPr>
          <p:cNvSpPr>
            <a:spLocks noGrp="1"/>
          </p:cNvSpPr>
          <p:nvPr/>
        </p:nvSpPr>
        <p:spPr>
          <a:xfrm>
            <a:off x="6991350" y="35147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3. 拿起飲用並放回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1B44F5D-B811-4F47-9CEE-155D39202CDA}"/>
              </a:ext>
            </a:extLst>
          </p:cNvPr>
          <p:cNvSpPr>
            <a:spLocks noGrp="1"/>
          </p:cNvSpPr>
          <p:nvPr/>
        </p:nvSpPr>
        <p:spPr>
          <a:xfrm>
            <a:off x="952500" y="418147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F4C31C-3BA5-4A41-A974-CA70C97FF47D}"/>
              </a:ext>
            </a:extLst>
          </p:cNvPr>
          <p:cNvSpPr>
            <a:spLocks noGrp="1"/>
          </p:cNvSpPr>
          <p:nvPr/>
        </p:nvSpPr>
        <p:spPr>
          <a:xfrm>
            <a:off x="1047750" y="42576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4. 判斷放回並穩定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34AC31B-D8D6-4FC6-809B-F492667CE127}"/>
              </a:ext>
            </a:extLst>
          </p:cNvPr>
          <p:cNvSpPr>
            <a:spLocks noGrp="1"/>
          </p:cNvSpPr>
          <p:nvPr/>
        </p:nvSpPr>
        <p:spPr>
          <a:xfrm>
            <a:off x="6896100" y="418147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AD8B95A-051E-476F-92B6-04C0BED012F6}"/>
              </a:ext>
            </a:extLst>
          </p:cNvPr>
          <p:cNvSpPr>
            <a:spLocks noGrp="1"/>
          </p:cNvSpPr>
          <p:nvPr/>
        </p:nvSpPr>
        <p:spPr>
          <a:xfrm>
            <a:off x="6991350" y="42576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4. END 記錄結束重量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84538BC7-79ED-4AF5-A213-BEC0D28642D1}"/>
              </a:ext>
            </a:extLst>
          </p:cNvPr>
          <p:cNvSpPr>
            <a:spLocks noGrp="1"/>
          </p:cNvSpPr>
          <p:nvPr/>
        </p:nvSpPr>
        <p:spPr>
          <a:xfrm>
            <a:off x="952500" y="49244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CC51A2-3BF4-4FAB-8759-06C23B7DBFA1}"/>
              </a:ext>
            </a:extLst>
          </p:cNvPr>
          <p:cNvSpPr>
            <a:spLocks noGrp="1"/>
          </p:cNvSpPr>
          <p:nvPr/>
        </p:nvSpPr>
        <p:spPr>
          <a:xfrm>
            <a:off x="1047750" y="5000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5. 計算飲水量＋MQTT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694DBB45-9117-43F2-936C-8FD7EB92FE04}"/>
              </a:ext>
            </a:extLst>
          </p:cNvPr>
          <p:cNvSpPr>
            <a:spLocks noGrp="1"/>
          </p:cNvSpPr>
          <p:nvPr/>
        </p:nvSpPr>
        <p:spPr>
          <a:xfrm>
            <a:off x="6896100" y="4924425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2AB7622-A601-4F25-9F1A-5A423CA61B14}"/>
              </a:ext>
            </a:extLst>
          </p:cNvPr>
          <p:cNvSpPr>
            <a:spLocks noGrp="1"/>
          </p:cNvSpPr>
          <p:nvPr/>
        </p:nvSpPr>
        <p:spPr>
          <a:xfrm>
            <a:off x="6991350" y="5000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5. CALC_WATER 計算</a:t>
            </a:r>
          </a:p>
        </p:txBody>
      </p:sp>
    </p:spTree>
    <p:extLst>
      <p:ext uri="{BB962C8B-B14F-4D97-AF65-F5344CB8AC3E}">
        <p14:creationId xmlns:p14="http://schemas.microsoft.com/office/powerpoint/2010/main" val="2241552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822025-7BD4-4E4A-9A6C-C6899D2F0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8</a:t>
            </a:fld>
            <a:endParaRPr/>
          </a:p>
        </p:txBody>
      </p:sp>
      <p:pic>
        <p:nvPicPr>
          <p:cNvPr id="35" name="Picture 2"/>
          <p:cNvPicPr>
            <a:picLocks noChangeAspect="1"/>
          </p:cNvPicPr>
          <p:nvPr/>
        </p:nvPicPr>
        <p:blipFill>
          <a:blip r:embed="rId3"/>
          <a:srcRect t="76990"/>
          <a:stretch>
            <a:fillRect/>
          </a:stretch>
        </p:blipFill>
        <p:spPr>
          <a:xfrm>
            <a:off x="3430116" y="1124744"/>
            <a:ext cx="4330700" cy="4178300"/>
          </a:xfrm>
          <a:prstGeom prst="rect">
            <a:avLst/>
          </a:prstGeom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FCE1470-6479-4753-BDE7-C752608E0D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E544CE-C0EA-44FE-B1C6-28FEF6851E19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使用流程｜平常自動記錄，測試時逐步操作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7E6867-89BB-4C74-B64A-F0652822DA0B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F4EB5D-7F6D-4AC0-8AA2-3EE253B8B8BC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9AABEF-305D-48D2-9CE1-C8E3E04EC9A3}"/>
              </a:ext>
            </a:extLst>
          </p:cNvPr>
          <p:cNvSpPr>
            <a:spLocks noGrp="1"/>
          </p:cNvSpPr>
          <p:nvPr/>
        </p:nvSpPr>
        <p:spPr>
          <a:xfrm>
            <a:off x="952500" y="13906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5C8FF"/>
                </a:solidFill>
              </a:defRPr>
            </a:pPr>
            <a:r>
              <a:rPr sz="2100" b="1">
                <a:solidFill>
                  <a:srgbClr val="55C8FF"/>
                </a:solidFill>
              </a:rPr>
              <a:t>自動模式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AA3778-D162-41B3-818A-50EC169CB4FD}"/>
              </a:ext>
            </a:extLst>
          </p:cNvPr>
          <p:cNvSpPr>
            <a:spLocks noGrp="1"/>
          </p:cNvSpPr>
          <p:nvPr/>
        </p:nvSpPr>
        <p:spPr>
          <a:xfrm>
            <a:off x="6953250" y="13906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FFB14A"/>
                </a:solidFill>
              </a:defRPr>
            </a:pPr>
            <a:r>
              <a:rPr sz="2100" b="1">
                <a:solidFill>
                  <a:srgbClr val="FFB14A"/>
                </a:solidFill>
              </a:rPr>
              <a:t>手動測試模式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F1F28B9-AB58-4A3C-A0E8-24F8C45E1E58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F27217-8923-40D1-B773-39F51E4C6561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1. 放上水杯並等待穩定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25394A2-893C-4B1C-A67C-BEF22F05CBA1}"/>
              </a:ext>
            </a:extLst>
          </p:cNvPr>
          <p:cNvSpPr>
            <a:spLocks noGrp="1"/>
          </p:cNvSpPr>
          <p:nvPr/>
        </p:nvSpPr>
        <p:spPr>
          <a:xfrm>
            <a:off x="6858000" y="19812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F4B3DE-D30A-4741-8B1B-699A32904935}"/>
              </a:ext>
            </a:extLst>
          </p:cNvPr>
          <p:cNvSpPr>
            <a:spLocks noGrp="1"/>
          </p:cNvSpPr>
          <p:nvPr/>
        </p:nvSpPr>
        <p:spPr>
          <a:xfrm>
            <a:off x="6953250" y="20574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1. 按 TARE 歸零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6B72296-77F4-4B71-84B6-21494FA6C9AB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DA1734-E560-405B-A363-EAC2B001FB00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2. 系統建立重量基準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25D355A-C377-4AEA-9F83-0F9D25C05F7A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EA787C-96E0-4ED8-9E6A-65CBCE9E34DE}"/>
              </a:ext>
            </a:extLst>
          </p:cNvPr>
          <p:cNvSpPr>
            <a:spLocks noGrp="1"/>
          </p:cNvSpPr>
          <p:nvPr/>
        </p:nvSpPr>
        <p:spPr>
          <a:xfrm>
            <a:off x="6953250" y="27813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2. 按 START 記錄起始重量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F00497C-FC2A-431F-810C-45DCDE80DAD2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82B1C1-1A13-4B5B-819F-6DD14A1DF37C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3. 拿起水杯開始飲用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E2EF753-3F47-4F55-BE36-5AF63E72D277}"/>
              </a:ext>
            </a:extLst>
          </p:cNvPr>
          <p:cNvSpPr>
            <a:spLocks noGrp="1"/>
          </p:cNvSpPr>
          <p:nvPr/>
        </p:nvSpPr>
        <p:spPr>
          <a:xfrm>
            <a:off x="6858000" y="34290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252492-B1F3-4C5D-88CD-6C556EC1E536}"/>
              </a:ext>
            </a:extLst>
          </p:cNvPr>
          <p:cNvSpPr>
            <a:spLocks noGrp="1"/>
          </p:cNvSpPr>
          <p:nvPr/>
        </p:nvSpPr>
        <p:spPr>
          <a:xfrm>
            <a:off x="6953250" y="3505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3. 拿起飲用再放回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7E0CDC5-E6C9-47B9-96DA-278581CE6C6E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ED2FE-9C4F-440F-99C3-310C84DCF366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4. 放回並等待重量穩定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8414759-2071-470E-955D-2624167654EE}"/>
              </a:ext>
            </a:extLst>
          </p:cNvPr>
          <p:cNvSpPr>
            <a:spLocks noGrp="1"/>
          </p:cNvSpPr>
          <p:nvPr/>
        </p:nvSpPr>
        <p:spPr>
          <a:xfrm>
            <a:off x="6858000" y="41529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05335B-C5CF-498A-8B12-629A2ECF63A2}"/>
              </a:ext>
            </a:extLst>
          </p:cNvPr>
          <p:cNvSpPr>
            <a:spLocks noGrp="1"/>
          </p:cNvSpPr>
          <p:nvPr/>
        </p:nvSpPr>
        <p:spPr>
          <a:xfrm>
            <a:off x="6953250" y="42291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4. 等待穩定後按 END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D1195ADB-AD62-4AB5-BF8B-3F2242864F30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B4EDE6-37CE-4757-B042-D34DC78BBFEB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5. 自動計算與上傳紀錄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0ECAC4B-7F78-485A-A6BE-0BC632806903}"/>
              </a:ext>
            </a:extLst>
          </p:cNvPr>
          <p:cNvSpPr>
            <a:spLocks noGrp="1"/>
          </p:cNvSpPr>
          <p:nvPr/>
        </p:nvSpPr>
        <p:spPr>
          <a:xfrm>
            <a:off x="6858000" y="4876800"/>
            <a:ext cx="4476750" cy="514350"/>
          </a:xfrm>
          <a:prstGeom prst="roundRect">
            <a:avLst>
              <a:gd name="adj" fmla="val 14815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51EF53-3432-4F63-8023-33DB033CFFB8}"/>
              </a:ext>
            </a:extLst>
          </p:cNvPr>
          <p:cNvSpPr>
            <a:spLocks noGrp="1"/>
          </p:cNvSpPr>
          <p:nvPr/>
        </p:nvSpPr>
        <p:spPr>
          <a:xfrm>
            <a:off x="6953250" y="49530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5. App 執行 CALC_WATER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05A64A-2E7E-4BC9-8E65-A59333003E4A}"/>
              </a:ext>
            </a:extLst>
          </p:cNvPr>
          <p:cNvSpPr>
            <a:spLocks noGrp="1"/>
          </p:cNvSpPr>
          <p:nvPr/>
        </p:nvSpPr>
        <p:spPr>
          <a:xfrm>
            <a:off x="1333500" y="57721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55D89A"/>
                </a:solidFill>
              </a:defRPr>
            </a:pPr>
            <a:r>
              <a:rPr sz="1500" b="1">
                <a:solidFill>
                  <a:srgbClr val="55D89A"/>
                </a:solidFill>
              </a:rPr>
              <a:t>用途：日常無感紀錄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6A27BED-270C-4A36-9B30-3A4A55650EE6}"/>
              </a:ext>
            </a:extLst>
          </p:cNvPr>
          <p:cNvSpPr>
            <a:spLocks noGrp="1"/>
          </p:cNvSpPr>
          <p:nvPr/>
        </p:nvSpPr>
        <p:spPr>
          <a:xfrm>
            <a:off x="7219950" y="57721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B14A"/>
                </a:solidFill>
              </a:defRPr>
            </a:pPr>
            <a:r>
              <a:rPr sz="1500" b="1">
                <a:solidFill>
                  <a:srgbClr val="FFB14A"/>
                </a:solidFill>
              </a:rPr>
              <a:t>用途：校正、驗證與故障備援</a:t>
            </a:r>
          </a:p>
        </p:txBody>
      </p:sp>
    </p:spTree>
    <p:extLst>
      <p:ext uri="{BB962C8B-B14F-4D97-AF65-F5344CB8AC3E}">
        <p14:creationId xmlns:p14="http://schemas.microsoft.com/office/powerpoint/2010/main" val="23790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5B7E4F-8294-4034-951A-B967AFA1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260648"/>
            <a:ext cx="9144001" cy="1371600"/>
          </a:xfrm>
        </p:spPr>
        <p:txBody>
          <a:bodyPr/>
          <a:lstStyle/>
          <a:p>
            <a:r>
              <a:t>MusicBox</a:t>
            </a:r>
          </a:p>
        </p:txBody>
      </p:sp>
      <p:pic>
        <p:nvPicPr>
          <p:cNvPr id="42" name="image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22604" y="164142"/>
            <a:ext cx="3502188" cy="6675467"/>
          </a:xfrm>
          <a:prstGeom prst="rect">
            <a:avLst/>
          </a:prstGeom>
        </p:spPr>
      </p:pic>
      <p:pic>
        <p:nvPicPr>
          <p:cNvPr id="43" name="image17.jpg"/>
          <p:cNvPicPr>
            <a:picLocks noChangeAspect="1"/>
          </p:cNvPicPr>
          <p:nvPr/>
        </p:nvPicPr>
        <p:blipFill>
          <a:blip r:embed="rId4"/>
          <a:srcRect l="23009" t="3765" r="18209" b="4404"/>
          <a:stretch>
            <a:fillRect/>
          </a:stretch>
        </p:blipFill>
        <p:spPr>
          <a:xfrm>
            <a:off x="3430116" y="2337591"/>
            <a:ext cx="4275297" cy="3758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image15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1741" y="1614291"/>
            <a:ext cx="3663380" cy="52050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23238A3-E7C0-4CA2-9D64-C8B12B690DBD}"/>
              </a:ext>
            </a:extLst>
          </p:cNvPr>
          <p:cNvSpPr>
            <a:spLocks noGrp="1"/>
          </p:cNvSpPr>
          <p:nvPr/>
        </p:nvSpPr>
        <p:spPr>
          <a:xfrm>
            <a:off x="2382796" y="6218497"/>
            <a:ext cx="1261884" cy="52322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none">
            <a:spAutoFit/>
          </a:bodyPr>
          <a:lstStyle/>
          <a:p>
            <a:r>
              <a:rPr sz="2800" b="1">
                <a:ln w="6350">
                  <a:noFill/>
                </a:ln>
              </a:rPr>
              <a:t>儲水槽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FF0BB9-86BE-46E3-A0C1-24C3CD465AF1}"/>
              </a:ext>
            </a:extLst>
          </p:cNvPr>
          <p:cNvSpPr>
            <a:spLocks noGrp="1"/>
          </p:cNvSpPr>
          <p:nvPr/>
        </p:nvSpPr>
        <p:spPr>
          <a:xfrm>
            <a:off x="2399755" y="3789040"/>
            <a:ext cx="1261884" cy="52322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ln w="6350">
                  <a:noFill/>
                </a:ln>
              </a:rPr>
              <a:t>冷凝器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FDAAA1F-412D-45EE-8758-FB1671E51CB7}"/>
              </a:ext>
            </a:extLst>
          </p:cNvPr>
          <p:cNvSpPr>
            <a:spLocks noGrp="1"/>
          </p:cNvSpPr>
          <p:nvPr/>
        </p:nvSpPr>
        <p:spPr>
          <a:xfrm>
            <a:off x="5211633" y="3121064"/>
            <a:ext cx="1261884" cy="52322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none">
            <a:spAutoFit/>
          </a:bodyPr>
          <a:lstStyle/>
          <a:p>
            <a:r>
              <a:rPr sz="2800" b="1">
                <a:ln w="6350">
                  <a:noFill/>
                </a:ln>
              </a:rPr>
              <a:t>散熱口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B387E5-1F30-4B39-B3A7-8A3B1E75569B}"/>
              </a:ext>
            </a:extLst>
          </p:cNvPr>
          <p:cNvSpPr>
            <a:spLocks noGrp="1"/>
          </p:cNvSpPr>
          <p:nvPr/>
        </p:nvSpPr>
        <p:spPr>
          <a:xfrm>
            <a:off x="3661639" y="2037335"/>
            <a:ext cx="1980029" cy="52322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ln w="6350">
                  <a:noFill/>
                </a:ln>
              </a:rPr>
              <a:t>溫濕感測器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2C4C679-5B97-4769-A325-9478CBB62F59}"/>
              </a:ext>
            </a:extLst>
          </p:cNvPr>
          <p:cNvSpPr>
            <a:spLocks noGrp="1"/>
          </p:cNvSpPr>
          <p:nvPr/>
        </p:nvSpPr>
        <p:spPr>
          <a:xfrm>
            <a:off x="5734372" y="4581128"/>
            <a:ext cx="1091966" cy="52322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ln w="6350">
                  <a:noFill/>
                </a:ln>
              </a:rPr>
              <a:t>OLED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3091DD8B-08A1-4C4F-963C-B1E59DECF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9</a:t>
            </a:fld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D3260A-55E1-43BF-9406-169BE23093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FBD680-2290-4B36-8956-99B79E97FA95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水杯墊裝置端｜ESP32 韌體負責完整判斷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2C97D0-6D97-4AAC-A911-0678B00FF43E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F1932C-B237-4B83-99B8-7DF9094302CA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8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3A5D3B6-CAA8-4623-9C11-62F83A6F0DB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F2F9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583883-2705-4157-BAB5-BE80CEF89B1F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HX711 取樣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4EBF9D-2724-4FF2-B853-9E805DA41E7A}"/>
              </a:ext>
            </a:extLst>
          </p:cNvPr>
          <p:cNvSpPr>
            <a:spLocks noGrp="1"/>
          </p:cNvSpPr>
          <p:nvPr/>
        </p:nvSpPr>
        <p:spPr>
          <a:xfrm>
            <a:off x="2705100" y="15430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固定週期讀取重量原始值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267981F-DE2E-436E-B1FE-98C974419274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F2F9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F0905A-9E45-4BCD-BE21-1E4666C1BC10}"/>
              </a:ext>
            </a:extLst>
          </p:cNvPr>
          <p:cNvSpPr>
            <a:spLocks noGrp="1"/>
          </p:cNvSpPr>
          <p:nvPr/>
        </p:nvSpPr>
        <p:spPr>
          <a:xfrm>
            <a:off x="6496050" y="15716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濾波與穩定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86627-CBD7-4224-978B-282AF32F73EE}"/>
              </a:ext>
            </a:extLst>
          </p:cNvPr>
          <p:cNvSpPr>
            <a:spLocks noGrp="1"/>
          </p:cNvSpPr>
          <p:nvPr/>
        </p:nvSpPr>
        <p:spPr>
          <a:xfrm>
            <a:off x="8286750" y="15430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移動平均／容許誤差／穩定時間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A3BB449-8602-4340-9AA2-CC155FD6F608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DFF7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EFFA2A-D7FA-47BB-A67C-EF0F3409763A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狀態機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43A0C4-209C-4CC2-8EB3-3D7B39603648}"/>
              </a:ext>
            </a:extLst>
          </p:cNvPr>
          <p:cNvSpPr>
            <a:spLocks noGrp="1"/>
          </p:cNvSpPr>
          <p:nvPr/>
        </p:nvSpPr>
        <p:spPr>
          <a:xfrm>
            <a:off x="2705100" y="29718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IDLE → CUP_ON → PICKED_UP → RETURNED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A002F1B-7D6E-40DE-8D4F-83F41D8EC25A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F2F9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EDDC18-35CB-4B90-9D33-3D6384A89C63}"/>
              </a:ext>
            </a:extLst>
          </p:cNvPr>
          <p:cNvSpPr>
            <a:spLocks noGrp="1"/>
          </p:cNvSpPr>
          <p:nvPr/>
        </p:nvSpPr>
        <p:spPr>
          <a:xfrm>
            <a:off x="6496050" y="30003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飲水計算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D86E13C-22C7-4082-80F3-A390040715C9}"/>
              </a:ext>
            </a:extLst>
          </p:cNvPr>
          <p:cNvSpPr>
            <a:spLocks noGrp="1"/>
          </p:cNvSpPr>
          <p:nvPr/>
        </p:nvSpPr>
        <p:spPr>
          <a:xfrm>
            <a:off x="8286750" y="29718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startWeight − endWeight；過小變化不記錄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9F9E2338-96BC-4F6B-8438-DA7BB21698E0}"/>
              </a:ext>
            </a:extLst>
          </p:cNvPr>
          <p:cNvSpPr>
            <a:spLocks noGrp="1"/>
          </p:cNvSpPr>
          <p:nvPr/>
        </p:nvSpPr>
        <p:spPr>
          <a:xfrm>
            <a:off x="704850" y="42862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F2F9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C11582-ED87-4864-82D5-81ECD3F313D4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NVS 設定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152A01-BF7E-4BA2-9A4A-682DA62EB756}"/>
              </a:ext>
            </a:extLst>
          </p:cNvPr>
          <p:cNvSpPr>
            <a:spLocks noGrp="1"/>
          </p:cNvSpPr>
          <p:nvPr/>
        </p:nvSpPr>
        <p:spPr>
          <a:xfrm>
            <a:off x="2705100" y="44005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保存 Wi‑Fi、UID 與校正係數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19C9E7A7-F4EA-4FB7-982C-732141A5D9BB}"/>
              </a:ext>
            </a:extLst>
          </p:cNvPr>
          <p:cNvSpPr>
            <a:spLocks noGrp="1"/>
          </p:cNvSpPr>
          <p:nvPr/>
        </p:nvSpPr>
        <p:spPr>
          <a:xfrm>
            <a:off x="6286500" y="42862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F2F9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3334E5-95CF-47D9-9C3A-EFFA003A9187}"/>
              </a:ext>
            </a:extLst>
          </p:cNvPr>
          <p:cNvSpPr>
            <a:spLocks noGrp="1"/>
          </p:cNvSpPr>
          <p:nvPr/>
        </p:nvSpPr>
        <p:spPr>
          <a:xfrm>
            <a:off x="6496050" y="4429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連線管理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DE257B-285B-4626-BF18-BD9846F2E6EA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02840"/>
                </a:solidFill>
              </a:defRPr>
            </a:pPr>
            <a:r>
              <a:rPr sz="1425" b="0">
                <a:solidFill>
                  <a:srgbClr val="102840"/>
                </a:solidFill>
              </a:rPr>
              <a:t>BLE 配網；Wi‑Fi／MQTT 自動重連</a:t>
            </a:r>
          </a:p>
        </p:txBody>
      </p:sp>
    </p:spTree>
    <p:extLst>
      <p:ext uri="{BB962C8B-B14F-4D97-AF65-F5344CB8AC3E}">
        <p14:creationId xmlns:p14="http://schemas.microsoft.com/office/powerpoint/2010/main" val="139653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27284-829F-4BCC-A66F-22B12FD2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WebServer端</a:t>
            </a:r>
          </a:p>
        </p:txBody>
      </p:sp>
      <p:pic>
        <p:nvPicPr>
          <p:cNvPr id="31" name="image2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34572" y="-5680"/>
            <a:ext cx="2880320" cy="6970385"/>
          </a:xfrm>
          <a:prstGeom prst="rect">
            <a:avLst/>
          </a:prstGeom>
        </p:spPr>
      </p:pic>
      <p:pic>
        <p:nvPicPr>
          <p:cNvPr id="32" name="圖片 4"/>
          <p:cNvPicPr>
            <a:picLocks noChangeAspect="1"/>
          </p:cNvPicPr>
          <p:nvPr/>
        </p:nvPicPr>
        <p:blipFill rotWithShape="1">
          <a:blip r:embed="rId4"/>
          <a:srcRect l="50502"/>
          <a:stretch/>
        </p:blipFill>
        <p:spPr>
          <a:xfrm>
            <a:off x="261764" y="2276872"/>
            <a:ext cx="6916391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CF5EC-FA4D-4DA7-9FC4-D863EFC44C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10</a:t>
            </a:fld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243AB7-3E2B-4E8F-938C-106C855292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D67C98-AD96-44F1-872E-F8ED48FABC4F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MQTT Broker｜集中轉送裝置、App 與 Web 訊息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98A8D-C928-42C4-BF3D-C217F15ED983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37E009-A16B-455F-A36F-C84B49D50FEA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9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E612159-168E-41A0-BEAE-16B3B4A4CBB0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DDF9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A251A2-2B43-4782-8EFD-19CA4355704D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2190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ESP32-S UNO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Publisher／Subscriber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EAD1C07-E4C5-4431-BA92-0F2F718207C7}"/>
              </a:ext>
            </a:extLst>
          </p:cNvPr>
          <p:cNvSpPr>
            <a:spLocks noGrp="1"/>
          </p:cNvSpPr>
          <p:nvPr/>
        </p:nvSpPr>
        <p:spPr>
          <a:xfrm>
            <a:off x="4905375" y="2333625"/>
            <a:ext cx="2381250" cy="1762125"/>
          </a:xfrm>
          <a:prstGeom prst="roundRect">
            <a:avLst>
              <a:gd name="adj" fmla="val 4324"/>
            </a:avLst>
          </a:prstGeom>
          <a:solidFill>
            <a:srgbClr val="E3F4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B6BAEE-BB5F-4914-BE02-B7902FC9672E}"/>
              </a:ext>
            </a:extLst>
          </p:cNvPr>
          <p:cNvSpPr>
            <a:spLocks noGrp="1"/>
          </p:cNvSpPr>
          <p:nvPr/>
        </p:nvSpPr>
        <p:spPr>
          <a:xfrm>
            <a:off x="5000625" y="2409825"/>
            <a:ext cx="21907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MQTT Broker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認證、Topic、QoS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CC51C0A-CF08-45D1-A3B8-144C757469F9}"/>
              </a:ext>
            </a:extLst>
          </p:cNvPr>
          <p:cNvSpPr>
            <a:spLocks noGrp="1"/>
          </p:cNvSpPr>
          <p:nvPr/>
        </p:nvSpPr>
        <p:spPr>
          <a:xfrm>
            <a:off x="9096375" y="179070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4A6B0F-FF19-40C4-8053-952A18B30476}"/>
              </a:ext>
            </a:extLst>
          </p:cNvPr>
          <p:cNvSpPr>
            <a:spLocks noGrp="1"/>
          </p:cNvSpPr>
          <p:nvPr/>
        </p:nvSpPr>
        <p:spPr>
          <a:xfrm>
            <a:off x="9191625" y="18669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Android App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MQTT Client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3934006-D142-4580-8046-9470E1BA418F}"/>
              </a:ext>
            </a:extLst>
          </p:cNvPr>
          <p:cNvSpPr>
            <a:spLocks noGrp="1"/>
          </p:cNvSpPr>
          <p:nvPr/>
        </p:nvSpPr>
        <p:spPr>
          <a:xfrm>
            <a:off x="9096375" y="379095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0EC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D08B0E-AF21-4275-B14A-341F6DC5E20A}"/>
              </a:ext>
            </a:extLst>
          </p:cNvPr>
          <p:cNvSpPr>
            <a:spLocks noGrp="1"/>
          </p:cNvSpPr>
          <p:nvPr/>
        </p:nvSpPr>
        <p:spPr>
          <a:xfrm>
            <a:off x="9191625" y="386715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Web Dashboard</a:t>
            </a:r>
          </a:p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WebSocket／HTTP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582633FC-0DCF-49FD-8C04-5488A29AE6B1}"/>
              </a:ext>
            </a:extLst>
          </p:cNvPr>
          <p:cNvSpPr>
            <a:spLocks noGrp="1"/>
          </p:cNvSpPr>
          <p:nvPr/>
        </p:nvSpPr>
        <p:spPr>
          <a:xfrm>
            <a:off x="3067050" y="3219450"/>
            <a:ext cx="1838325" cy="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34CDD4-5271-4E76-9107-13FB7775FA87}"/>
              </a:ext>
            </a:extLst>
          </p:cNvPr>
          <p:cNvSpPr>
            <a:spLocks noGrp="1"/>
          </p:cNvSpPr>
          <p:nvPr/>
        </p:nvSpPr>
        <p:spPr>
          <a:xfrm>
            <a:off x="3367088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Publish／Subscribe</a:t>
            </a:r>
          </a:p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D79EF7A6-488B-4264-8A48-11EAF987FE4D}"/>
              </a:ext>
            </a:extLst>
          </p:cNvPr>
          <p:cNvSpPr>
            <a:spLocks noGrp="1"/>
          </p:cNvSpPr>
          <p:nvPr/>
        </p:nvSpPr>
        <p:spPr>
          <a:xfrm>
            <a:off x="7286625" y="2324100"/>
            <a:ext cx="1809750" cy="53340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20FE93-DD1C-4B00-AC08-FD2A5A5F4006}"/>
              </a:ext>
            </a:extLst>
          </p:cNvPr>
          <p:cNvSpPr>
            <a:spLocks noGrp="1"/>
          </p:cNvSpPr>
          <p:nvPr/>
        </p:nvSpPr>
        <p:spPr>
          <a:xfrm>
            <a:off x="7572375" y="24003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Topic</a:t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BD779052-349C-4C73-9B3E-8CFC49A50B45}"/>
              </a:ext>
            </a:extLst>
          </p:cNvPr>
          <p:cNvSpPr>
            <a:spLocks noGrp="1"/>
          </p:cNvSpPr>
          <p:nvPr/>
        </p:nvSpPr>
        <p:spPr>
          <a:xfrm>
            <a:off x="7286625" y="3562350"/>
            <a:ext cx="1809750" cy="723900"/>
          </a:xfrm>
          <a:prstGeom prst="line">
            <a:avLst/>
          </a:prstGeom>
          <a:noFill/>
          <a:ln w="28575">
            <a:solidFill>
              <a:srgbClr val="55C8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19AC92-55B5-48B5-9E47-B46EDEF0375D}"/>
              </a:ext>
            </a:extLst>
          </p:cNvPr>
          <p:cNvSpPr>
            <a:spLocks noGrp="1"/>
          </p:cNvSpPr>
          <p:nvPr/>
        </p:nvSpPr>
        <p:spPr>
          <a:xfrm>
            <a:off x="7572375" y="37338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D5E8F5"/>
                </a:solidFill>
              </a:defRPr>
            </a:pPr>
            <a:r>
              <a:rPr sz="1125" b="1">
                <a:solidFill>
                  <a:srgbClr val="D5E8F5"/>
                </a:solidFill>
              </a:rPr>
              <a:t>Topic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AB047F-641D-40FA-97BD-B2ED0DEEF909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55C8FF"/>
                </a:solidFill>
              </a:defRPr>
            </a:pPr>
            <a:r>
              <a:rPr sz="1650" b="1">
                <a:solidFill>
                  <a:srgbClr val="55C8FF"/>
                </a:solidFill>
              </a:rPr>
              <a:t>Topic 範例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395C26-FD8B-40AD-BA63-4B08B50484BC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esp32/{uid}/weight</a:t>
            </a:r>
          </a:p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esp32/{uid}/state</a:t>
            </a:r>
          </a:p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esp32/{uid}/water/taken</a:t>
            </a:r>
          </a:p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esp32/{uid}/cmd</a:t>
            </a:r>
          </a:p>
        </p:txBody>
      </p:sp>
    </p:spTree>
    <p:extLst>
      <p:ext uri="{BB962C8B-B14F-4D97-AF65-F5344CB8AC3E}">
        <p14:creationId xmlns:p14="http://schemas.microsoft.com/office/powerpoint/2010/main" val="54062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B2414-C073-4AB7-B5BB-50A308D2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網頁</a:t>
            </a:r>
          </a:p>
        </p:txBody>
      </p:sp>
      <p:pic>
        <p:nvPicPr>
          <p:cNvPr id="34" name="image2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62564" y="22950"/>
            <a:ext cx="4208165" cy="6840121"/>
          </a:xfrm>
          <a:prstGeom prst="rect">
            <a:avLst/>
          </a:prstGeom>
        </p:spPr>
      </p:pic>
      <p:pic>
        <p:nvPicPr>
          <p:cNvPr id="35" name="圖片 4"/>
          <p:cNvPicPr>
            <a:picLocks noChangeAspect="1"/>
          </p:cNvPicPr>
          <p:nvPr/>
        </p:nvPicPr>
        <p:blipFill rotWithShape="1">
          <a:blip r:embed="rId4"/>
          <a:srcRect l="53615"/>
          <a:stretch/>
        </p:blipFill>
        <p:spPr>
          <a:xfrm>
            <a:off x="3358108" y="3098237"/>
            <a:ext cx="3933261" cy="3122196"/>
          </a:xfrm>
          <a:prstGeom prst="rect">
            <a:avLst/>
          </a:prstGeom>
        </p:spPr>
      </p:pic>
      <p:pic>
        <p:nvPicPr>
          <p:cNvPr id="36" name="image9.png"/>
          <p:cNvPicPr>
            <a:picLocks noChangeAspect="1"/>
          </p:cNvPicPr>
          <p:nvPr/>
        </p:nvPicPr>
        <p:blipFill rotWithShape="1">
          <a:blip r:embed="rId5"/>
          <a:srcRect l="-1" t="25453" r="31762"/>
          <a:stretch/>
        </p:blipFill>
        <p:spPr>
          <a:xfrm>
            <a:off x="549796" y="2059099"/>
            <a:ext cx="4211959" cy="4250221"/>
          </a:xfrm>
          <a:prstGeom prst="rect">
            <a:avLst/>
          </a:prstGeom>
          <a:ln>
            <a:noFill/>
          </a:ln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C659A-075F-46CB-8B34-287344346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rPr/>
              <a:t>11</a:t>
            </a:fld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135D6B-061A-42F1-94C8-99EAA0D0A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33F66D-228B-4BEB-8334-696768149BD6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Web 端｜跨平台查看與工程測試介面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545A65-F2C3-49D5-BE3B-D12F306C5065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4FF826-4B01-4C8D-93D0-BA1125199B05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30A9268-3B54-4F52-9109-E264E296CDA4}"/>
              </a:ext>
            </a:extLst>
          </p:cNvPr>
          <p:cNvSpPr>
            <a:spLocks noGrp="1"/>
          </p:cNvSpPr>
          <p:nvPr/>
        </p:nvSpPr>
        <p:spPr>
          <a:xfrm>
            <a:off x="876300" y="1314450"/>
            <a:ext cx="10382250" cy="685800"/>
          </a:xfrm>
          <a:prstGeom prst="roundRect">
            <a:avLst>
              <a:gd name="adj" fmla="val 11111"/>
            </a:avLst>
          </a:prstGeom>
          <a:solidFill>
            <a:srgbClr val="ED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C71E30-C15E-46D2-BC0E-9DA90F4C49A1}"/>
              </a:ext>
            </a:extLst>
          </p:cNvPr>
          <p:cNvSpPr>
            <a:spLocks noGrp="1"/>
          </p:cNvSpPr>
          <p:nvPr/>
        </p:nvSpPr>
        <p:spPr>
          <a:xfrm>
            <a:off x="1123950" y="14097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7CC1"/>
                </a:solidFill>
              </a:defRPr>
            </a:pPr>
            <a:r>
              <a:rPr sz="1650" b="1">
                <a:solidFill>
                  <a:srgbClr val="147CC1"/>
                </a:solidFill>
              </a:rPr>
              <a:t>即時資料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327E4C-5340-496B-9707-8E16805B7728}"/>
              </a:ext>
            </a:extLst>
          </p:cNvPr>
          <p:cNvSpPr>
            <a:spLocks noGrp="1"/>
          </p:cNvSpPr>
          <p:nvPr/>
        </p:nvSpPr>
        <p:spPr>
          <a:xfrm>
            <a:off x="3333750" y="13906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840"/>
                </a:solidFill>
              </a:defRPr>
            </a:pPr>
            <a:r>
              <a:rPr sz="1500" b="0">
                <a:solidFill>
                  <a:srgbClr val="102840"/>
                </a:solidFill>
              </a:rPr>
              <a:t>目前重量、連線狀態、自動模式狀態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5D0CACF-59AB-4232-80A9-4A49C7F1FBB3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10382250" cy="685800"/>
          </a:xfrm>
          <a:prstGeom prst="roundRect">
            <a:avLst>
              <a:gd name="adj" fmla="val 11111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29386C-A05A-4B25-8B8D-442140FA51A7}"/>
              </a:ext>
            </a:extLst>
          </p:cNvPr>
          <p:cNvSpPr>
            <a:spLocks noGrp="1"/>
          </p:cNvSpPr>
          <p:nvPr/>
        </p:nvSpPr>
        <p:spPr>
          <a:xfrm>
            <a:off x="1123950" y="23241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7CC1"/>
                </a:solidFill>
              </a:defRPr>
            </a:pPr>
            <a:r>
              <a:rPr sz="1650" b="1">
                <a:solidFill>
                  <a:srgbClr val="147CC1"/>
                </a:solidFill>
              </a:rPr>
              <a:t>手動測試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B09FC2-2D6D-4C1E-9C6F-6CAF3AF31577}"/>
              </a:ext>
            </a:extLst>
          </p:cNvPr>
          <p:cNvSpPr>
            <a:spLocks noGrp="1"/>
          </p:cNvSpPr>
          <p:nvPr/>
        </p:nvSpPr>
        <p:spPr>
          <a:xfrm>
            <a:off x="3333750" y="23050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840"/>
                </a:solidFill>
              </a:defRPr>
            </a:pPr>
            <a:r>
              <a:rPr sz="1500" b="0">
                <a:solidFill>
                  <a:srgbClr val="102840"/>
                </a:solidFill>
              </a:rPr>
              <a:t>TARE、START、END、CALC_WATER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EC72EA4-9557-49C3-ADE1-99306E058ABD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0382250" cy="685800"/>
          </a:xfrm>
          <a:prstGeom prst="roundRect">
            <a:avLst>
              <a:gd name="adj" fmla="val 11111"/>
            </a:avLst>
          </a:prstGeom>
          <a:solidFill>
            <a:srgbClr val="ED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797812-9702-400C-AC2D-226873ABA8E1}"/>
              </a:ext>
            </a:extLst>
          </p:cNvPr>
          <p:cNvSpPr>
            <a:spLocks noGrp="1"/>
          </p:cNvSpPr>
          <p:nvPr/>
        </p:nvSpPr>
        <p:spPr>
          <a:xfrm>
            <a:off x="1123950" y="32385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7CC1"/>
                </a:solidFill>
              </a:defRPr>
            </a:pPr>
            <a:r>
              <a:rPr sz="1650" b="1">
                <a:solidFill>
                  <a:srgbClr val="147CC1"/>
                </a:solidFill>
              </a:rPr>
              <a:t>歷史紀錄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7A1012-0C27-49A3-A1CD-CDAB7F32993E}"/>
              </a:ext>
            </a:extLst>
          </p:cNvPr>
          <p:cNvSpPr>
            <a:spLocks noGrp="1"/>
          </p:cNvSpPr>
          <p:nvPr/>
        </p:nvSpPr>
        <p:spPr>
          <a:xfrm>
            <a:off x="3333750" y="32194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840"/>
                </a:solidFill>
              </a:defRPr>
            </a:pPr>
            <a:r>
              <a:rPr sz="1500" b="0">
                <a:solidFill>
                  <a:srgbClr val="102840"/>
                </a:solidFill>
              </a:rPr>
              <a:t>日期、時間、單次飲水量與每日累積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8B453C9-E68F-4DBA-A2BB-8E28B4AEB5D0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10382250" cy="685800"/>
          </a:xfrm>
          <a:prstGeom prst="roundRect">
            <a:avLst>
              <a:gd name="adj" fmla="val 11111"/>
            </a:avLst>
          </a:prstGeom>
          <a:solidFill>
            <a:srgbClr val="ED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24228B-C49B-4364-B789-2CE38A46672E}"/>
              </a:ext>
            </a:extLst>
          </p:cNvPr>
          <p:cNvSpPr>
            <a:spLocks noGrp="1"/>
          </p:cNvSpPr>
          <p:nvPr/>
        </p:nvSpPr>
        <p:spPr>
          <a:xfrm>
            <a:off x="1123950" y="41529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7CC1"/>
                </a:solidFill>
              </a:defRPr>
            </a:pPr>
            <a:r>
              <a:rPr sz="1650" b="1">
                <a:solidFill>
                  <a:srgbClr val="147CC1"/>
                </a:solidFill>
              </a:rPr>
              <a:t>裝置設定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EA5EDB-C9D6-453A-BAE0-2FF25A7A76F6}"/>
              </a:ext>
            </a:extLst>
          </p:cNvPr>
          <p:cNvSpPr>
            <a:spLocks noGrp="1"/>
          </p:cNvSpPr>
          <p:nvPr/>
        </p:nvSpPr>
        <p:spPr>
          <a:xfrm>
            <a:off x="3333750" y="41338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840"/>
                </a:solidFill>
              </a:defRPr>
            </a:pPr>
            <a:r>
              <a:rPr sz="1500" b="0">
                <a:solidFill>
                  <a:srgbClr val="102840"/>
                </a:solidFill>
              </a:rPr>
              <a:t>UID、MQTT 連線與除錯訊息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D3910F77-D06A-4930-BF9D-A78F7A8D9EAB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0382250" cy="685800"/>
          </a:xfrm>
          <a:prstGeom prst="roundRect">
            <a:avLst>
              <a:gd name="adj" fmla="val 11111"/>
            </a:avLst>
          </a:prstGeom>
          <a:solidFill>
            <a:srgbClr val="ED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03B800-F5C7-449B-ADDC-AF48E404F0C9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7CC1"/>
                </a:solidFill>
              </a:defRPr>
            </a:pPr>
            <a:r>
              <a:rPr sz="1650" b="1">
                <a:solidFill>
                  <a:srgbClr val="147CC1"/>
                </a:solidFill>
              </a:rPr>
              <a:t>技術實作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7B6E5D-4054-4F82-8403-2749E6B212C6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840"/>
                </a:solidFill>
              </a:defRPr>
            </a:pPr>
            <a:r>
              <a:rPr sz="1500" b="0">
                <a:solidFill>
                  <a:srgbClr val="102840"/>
                </a:solidFill>
              </a:rPr>
              <a:t>HTML／CSS／JavaScript；MQTT WebSocket 或 HTTP API</a:t>
            </a:r>
          </a:p>
        </p:txBody>
      </p:sp>
    </p:spTree>
    <p:extLst>
      <p:ext uri="{BB962C8B-B14F-4D97-AF65-F5344CB8AC3E}">
        <p14:creationId xmlns:p14="http://schemas.microsoft.com/office/powerpoint/2010/main" val="300792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E5DF5-3EBF-4C66-A9E8-A2879D0D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手機APP</a:t>
            </a:r>
          </a:p>
        </p:txBody>
      </p:sp>
      <p:pic>
        <p:nvPicPr>
          <p:cNvPr id="36" name="image7.png"/>
          <p:cNvPicPr>
            <a:picLocks noChangeAspect="1"/>
          </p:cNvPicPr>
          <p:nvPr/>
        </p:nvPicPr>
        <p:blipFill>
          <a:blip r:embed="rId3"/>
          <a:srcRect l="33230" t="19646" r="34791" b="21767"/>
          <a:stretch>
            <a:fillRect/>
          </a:stretch>
        </p:blipFill>
        <p:spPr>
          <a:xfrm>
            <a:off x="6246744" y="62620"/>
            <a:ext cx="5760640" cy="6569847"/>
          </a:xfrm>
          <a:prstGeom prst="rect">
            <a:avLst/>
          </a:prstGeom>
        </p:spPr>
      </p:pic>
      <p:pic>
        <p:nvPicPr>
          <p:cNvPr id="37" name="圖片 5"/>
          <p:cNvPicPr>
            <a:picLocks noChangeAspect="1"/>
          </p:cNvPicPr>
          <p:nvPr/>
        </p:nvPicPr>
        <p:blipFill rotWithShape="1">
          <a:blip r:embed="rId4"/>
          <a:srcRect l="53615"/>
          <a:stretch/>
        </p:blipFill>
        <p:spPr>
          <a:xfrm>
            <a:off x="2233159" y="3067293"/>
            <a:ext cx="3933261" cy="3122196"/>
          </a:xfrm>
          <a:prstGeom prst="rect">
            <a:avLst/>
          </a:prstGeom>
        </p:spPr>
      </p:pic>
      <p:pic>
        <p:nvPicPr>
          <p:cNvPr id="38" name="image8.jpg"/>
          <p:cNvPicPr>
            <a:picLocks noChangeAspect="1"/>
          </p:cNvPicPr>
          <p:nvPr/>
        </p:nvPicPr>
        <p:blipFill rotWithShape="1">
          <a:blip r:embed="rId5"/>
          <a:srcRect b="6237"/>
          <a:stretch/>
        </p:blipFill>
        <p:spPr>
          <a:xfrm>
            <a:off x="194672" y="2276872"/>
            <a:ext cx="2659380" cy="3984625"/>
          </a:xfrm>
          <a:prstGeom prst="rect">
            <a:avLst/>
          </a:prstGeom>
          <a:ln>
            <a:noFill/>
          </a:ln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BB7724-B17E-48D5-85DB-35AD9FCB9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013F82-EE5E-44EE-A61D-E31C6657F26F}" type="slidenum">
              <a:t>12</a:t>
            </a:fld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EC418-FAE6-42A0-9100-D10F3A1C18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1670B5-06A9-42D1-AB7B-FEEED6913138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Android App｜BLE 綁定後以 Wi‑Fi／MQTT 日常同步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C52C58-3421-44CF-A5F2-2968E050120D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3E70B-07D9-4955-915A-830116AE1A38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11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A889D9-1D6A-44E7-8654-19CE3C57FF5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5067300"/>
          </a:xfrm>
          <a:prstGeom prst="roundRect">
            <a:avLst>
              <a:gd name="adj" fmla="val 2256"/>
            </a:avLst>
          </a:prstGeom>
          <a:ln w="14288">
            <a:solidFill>
              <a:srgbClr val="79CFFF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4E7C9A4-40C1-40FA-8CAA-4B8F3C3104F5}"/>
              </a:ext>
            </a:extLst>
          </p:cNvPr>
          <p:cNvSpPr>
            <a:spLocks noGrp="1"/>
          </p:cNvSpPr>
          <p:nvPr/>
        </p:nvSpPr>
        <p:spPr>
          <a:xfrm>
            <a:off x="2171700" y="139065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02D473-93EB-4652-9D61-0EF15FFE9D40}"/>
              </a:ext>
            </a:extLst>
          </p:cNvPr>
          <p:cNvSpPr>
            <a:spLocks noGrp="1"/>
          </p:cNvSpPr>
          <p:nvPr/>
        </p:nvSpPr>
        <p:spPr>
          <a:xfrm>
            <a:off x="2266950" y="146685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1. App 掃描 ESP32 BLE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0480B20-1DC8-4DCE-8566-074C2A69CD81}"/>
              </a:ext>
            </a:extLst>
          </p:cNvPr>
          <p:cNvSpPr>
            <a:spLocks noGrp="1"/>
          </p:cNvSpPr>
          <p:nvPr/>
        </p:nvSpPr>
        <p:spPr>
          <a:xfrm>
            <a:off x="2171700" y="201930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5ADF3C-9456-460E-A37C-DA4FD0D0B6A3}"/>
              </a:ext>
            </a:extLst>
          </p:cNvPr>
          <p:cNvSpPr>
            <a:spLocks noGrp="1"/>
          </p:cNvSpPr>
          <p:nvPr/>
        </p:nvSpPr>
        <p:spPr>
          <a:xfrm>
            <a:off x="2266950" y="20955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2. 選擇裝置並交換 UID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83E41E13-2455-4D92-9536-FB50258C0DD5}"/>
              </a:ext>
            </a:extLst>
          </p:cNvPr>
          <p:cNvSpPr>
            <a:spLocks noGrp="1"/>
          </p:cNvSpPr>
          <p:nvPr/>
        </p:nvSpPr>
        <p:spPr>
          <a:xfrm>
            <a:off x="2171700" y="264795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88295C-00DB-46DE-9E0A-5CC4AA72A977}"/>
              </a:ext>
            </a:extLst>
          </p:cNvPr>
          <p:cNvSpPr>
            <a:spLocks noGrp="1"/>
          </p:cNvSpPr>
          <p:nvPr/>
        </p:nvSpPr>
        <p:spPr>
          <a:xfrm>
            <a:off x="2266950" y="272415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3. 讀取 2.4 GHz SSID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AD02C0C-6EDB-4684-B452-B7F1C64CE689}"/>
              </a:ext>
            </a:extLst>
          </p:cNvPr>
          <p:cNvSpPr>
            <a:spLocks noGrp="1"/>
          </p:cNvSpPr>
          <p:nvPr/>
        </p:nvSpPr>
        <p:spPr>
          <a:xfrm>
            <a:off x="2171700" y="327660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E7F6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F6D01B-D603-4DA8-A969-1A9F36008C60}"/>
              </a:ext>
            </a:extLst>
          </p:cNvPr>
          <p:cNvSpPr>
            <a:spLocks noGrp="1"/>
          </p:cNvSpPr>
          <p:nvPr/>
        </p:nvSpPr>
        <p:spPr>
          <a:xfrm>
            <a:off x="2266950" y="33528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4. 透過 GATT 傳送 SSID／密碼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93C0108-E511-446A-80F4-4ACB025E5BA9}"/>
              </a:ext>
            </a:extLst>
          </p:cNvPr>
          <p:cNvSpPr>
            <a:spLocks noGrp="1"/>
          </p:cNvSpPr>
          <p:nvPr/>
        </p:nvSpPr>
        <p:spPr>
          <a:xfrm>
            <a:off x="2171700" y="390525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DDF9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B6DBEA-5DAA-4CB0-8962-627B8AEE8769}"/>
              </a:ext>
            </a:extLst>
          </p:cNvPr>
          <p:cNvSpPr>
            <a:spLocks noGrp="1"/>
          </p:cNvSpPr>
          <p:nvPr/>
        </p:nvSpPr>
        <p:spPr>
          <a:xfrm>
            <a:off x="2266950" y="398145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5. ESP32 寫入 NVS 並連 Wi‑Fi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CA29BFE-C8E6-4B40-8A12-CCA2E06D6CC1}"/>
              </a:ext>
            </a:extLst>
          </p:cNvPr>
          <p:cNvSpPr>
            <a:spLocks noGrp="1"/>
          </p:cNvSpPr>
          <p:nvPr/>
        </p:nvSpPr>
        <p:spPr>
          <a:xfrm>
            <a:off x="2171700" y="453390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DDF9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4358FC-FF0B-4270-A630-BC162CC415DB}"/>
              </a:ext>
            </a:extLst>
          </p:cNvPr>
          <p:cNvSpPr>
            <a:spLocks noGrp="1"/>
          </p:cNvSpPr>
          <p:nvPr/>
        </p:nvSpPr>
        <p:spPr>
          <a:xfrm>
            <a:off x="2266950" y="46101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6. 連接 MQTT Broker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8E7FFF5-65DA-4CEC-8908-ED700310372B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7848600" cy="438150"/>
          </a:xfrm>
          <a:prstGeom prst="roundRect">
            <a:avLst>
              <a:gd name="adj" fmla="val 17391"/>
            </a:avLst>
          </a:prstGeom>
          <a:solidFill>
            <a:srgbClr val="DDF9E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84FB416-161D-4591-987B-6A2CAB00B613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840"/>
                </a:solidFill>
              </a:defRPr>
            </a:pPr>
            <a:r>
              <a:rPr sz="1500" b="1">
                <a:solidFill>
                  <a:srgbClr val="102840"/>
                </a:solidFill>
              </a:rPr>
              <a:t>7. App 改用 MQTT 顯示資料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6E19F5-5489-45FE-8AB0-2C7D07E2EFB4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14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47CC1"/>
                </a:solidFill>
              </a:defRPr>
            </a:pPr>
            <a:r>
              <a:rPr sz="1500" b="1">
                <a:solidFill>
                  <a:srgbClr val="147CC1"/>
                </a:solidFill>
              </a:rPr>
              <a:t>BLE 近端設定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5F37F67-D785-44C7-B743-B57BE430ABC0}"/>
              </a:ext>
            </a:extLst>
          </p:cNvPr>
          <p:cNvSpPr>
            <a:spLocks noGrp="1"/>
          </p:cNvSpPr>
          <p:nvPr/>
        </p:nvSpPr>
        <p:spPr>
          <a:xfrm>
            <a:off x="10191750" y="3714750"/>
            <a:ext cx="104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5D89A"/>
                </a:solidFill>
              </a:defRPr>
            </a:pPr>
            <a:r>
              <a:rPr sz="1350" b="1">
                <a:solidFill>
                  <a:srgbClr val="55D89A"/>
                </a:solidFill>
              </a:rPr>
              <a:t>Wi‑Fi／MQTT 日常連線</a:t>
            </a:r>
          </a:p>
        </p:txBody>
      </p:sp>
    </p:spTree>
    <p:extLst>
      <p:ext uri="{BB962C8B-B14F-4D97-AF65-F5344CB8AC3E}">
        <p14:creationId xmlns:p14="http://schemas.microsoft.com/office/powerpoint/2010/main" val="163856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6EBE-0990-89BE-FB34-7B009021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深藍背景">
            <a:extLst>
              <a:ext uri="{FF2B5EF4-FFF2-40B4-BE49-F238E27FC236}">
                <a16:creationId xmlns:a16="http://schemas.microsoft.com/office/drawing/2014/main" id="{F6F18433-8AB9-E1B7-D859-DB211F3826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>
            <a:noFill/>
          </a:ln>
        </p:spPr>
      </p:sp>
      <p:sp>
        <p:nvSpPr>
          <p:cNvPr id="3" name="標題">
            <a:extLst>
              <a:ext uri="{FF2B5EF4-FFF2-40B4-BE49-F238E27FC236}">
                <a16:creationId xmlns:a16="http://schemas.microsoft.com/office/drawing/2014/main" id="{8359B8AD-FEB7-E1AE-8D08-7C11A95DF903}"/>
              </a:ext>
            </a:extLst>
          </p:cNvPr>
          <p:cNvSpPr>
            <a:spLocks noGrp="1"/>
          </p:cNvSpPr>
          <p:nvPr/>
        </p:nvSpPr>
        <p:spPr>
          <a:xfrm>
            <a:off x="650000" y="260000"/>
            <a:ext cx="10900000" cy="6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32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UI／UX </a:t>
            </a:r>
            <a:r>
              <a:rPr lang="en-US" sz="32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FLOW</a:t>
            </a:r>
            <a:endParaRPr sz="32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分隔線">
            <a:extLst>
              <a:ext uri="{FF2B5EF4-FFF2-40B4-BE49-F238E27FC236}">
                <a16:creationId xmlns:a16="http://schemas.microsoft.com/office/drawing/2014/main" id="{87873CC5-23D7-80A4-C54C-F58C8CF55D3F}"/>
              </a:ext>
            </a:extLst>
          </p:cNvPr>
          <p:cNvSpPr>
            <a:spLocks noGrp="1"/>
          </p:cNvSpPr>
          <p:nvPr/>
        </p:nvSpPr>
        <p:spPr>
          <a:xfrm>
            <a:off x="650000" y="990000"/>
            <a:ext cx="10900000" cy="26000"/>
          </a:xfrm>
          <a:prstGeom prst="rect">
            <a:avLst/>
          </a:prstGeom>
          <a:solidFill>
            <a:srgbClr val="55C8FF"/>
          </a:solidFill>
          <a:ln>
            <a:noFill/>
          </a:ln>
        </p:spPr>
      </p:sp>
      <p:sp>
        <p:nvSpPr>
          <p:cNvPr id="8" name="提示">
            <a:extLst>
              <a:ext uri="{FF2B5EF4-FFF2-40B4-BE49-F238E27FC236}">
                <a16:creationId xmlns:a16="http://schemas.microsoft.com/office/drawing/2014/main" id="{A86B0E3E-36D3-EE5A-E413-E663E15CED50}"/>
              </a:ext>
            </a:extLst>
          </p:cNvPr>
          <p:cNvSpPr>
            <a:spLocks noGrp="1"/>
          </p:cNvSpPr>
          <p:nvPr/>
        </p:nvSpPr>
        <p:spPr>
          <a:xfrm>
            <a:off x="6350000" y="5720000"/>
            <a:ext cx="5150000" cy="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buNone/>
            </a:pPr>
            <a:endParaRPr lang="zh-TW" altLang="en-US" sz="1600" b="1" dirty="0">
              <a:solidFill>
                <a:srgbClr val="55C8FF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9384AB7-930F-9559-552D-0308D9641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994" y="1003780"/>
            <a:ext cx="6481006" cy="58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9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深藍背景">
            <a:extLst>
              <a:ext uri="{FF2B5EF4-FFF2-40B4-BE49-F238E27FC236}">
                <a16:creationId xmlns:a16="http://schemas.microsoft.com/office/drawing/2014/main" id="{C36CBB6A-81B8-46CC-A798-F15DA74D5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>
            <a:noFill/>
          </a:ln>
        </p:spPr>
      </p:sp>
      <p:sp>
        <p:nvSpPr>
          <p:cNvPr id="3" name="標題">
            <a:extLst>
              <a:ext uri="{FF2B5EF4-FFF2-40B4-BE49-F238E27FC236}">
                <a16:creationId xmlns:a16="http://schemas.microsoft.com/office/drawing/2014/main" id="{F6086C54-55F4-4FCD-BF73-9F6991DA3918}"/>
              </a:ext>
            </a:extLst>
          </p:cNvPr>
          <p:cNvSpPr>
            <a:spLocks noGrp="1"/>
          </p:cNvSpPr>
          <p:nvPr/>
        </p:nvSpPr>
        <p:spPr>
          <a:xfrm>
            <a:off x="650000" y="260000"/>
            <a:ext cx="10900000" cy="6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UI／UX Prototype｜智慧水杯墊互動原型</a:t>
            </a:r>
          </a:p>
        </p:txBody>
      </p:sp>
      <p:sp>
        <p:nvSpPr>
          <p:cNvPr id="4" name="分隔線">
            <a:extLst>
              <a:ext uri="{FF2B5EF4-FFF2-40B4-BE49-F238E27FC236}">
                <a16:creationId xmlns:a16="http://schemas.microsoft.com/office/drawing/2014/main" id="{A73C2BC9-7E88-4291-ABFC-5743BE96BF1C}"/>
              </a:ext>
            </a:extLst>
          </p:cNvPr>
          <p:cNvSpPr>
            <a:spLocks noGrp="1"/>
          </p:cNvSpPr>
          <p:nvPr/>
        </p:nvSpPr>
        <p:spPr>
          <a:xfrm>
            <a:off x="650000" y="990000"/>
            <a:ext cx="10900000" cy="26000"/>
          </a:xfrm>
          <a:prstGeom prst="rect">
            <a:avLst/>
          </a:prstGeom>
          <a:solidFill>
            <a:srgbClr val="55C8FF"/>
          </a:solidFill>
          <a:ln>
            <a:noFill/>
          </a:ln>
        </p:spPr>
      </p:sp>
      <p:pic>
        <p:nvPicPr>
          <p:cNvPr id="13" name="Stitch Preview QR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80000"/>
            <a:ext cx="5150000" cy="5150000"/>
          </a:xfrm>
          <a:prstGeom prst="roundRect">
            <a:avLst/>
          </a:prstGeom>
          <a:ln>
            <a:solidFill>
              <a:srgbClr val="55C8FF"/>
            </a:solidFill>
            <a:prstDash val="solid"/>
          </a:ln>
        </p:spPr>
      </p:pic>
      <p:sp>
        <p:nvSpPr>
          <p:cNvPr id="6" name="流程說明">
            <a:extLst>
              <a:ext uri="{FF2B5EF4-FFF2-40B4-BE49-F238E27FC236}">
                <a16:creationId xmlns:a16="http://schemas.microsoft.com/office/drawing/2014/main" id="{C796A2D3-F95A-49A4-AE11-74E523C9918C}"/>
              </a:ext>
            </a:extLst>
          </p:cNvPr>
          <p:cNvSpPr>
            <a:spLocks noGrp="1"/>
          </p:cNvSpPr>
          <p:nvPr/>
        </p:nvSpPr>
        <p:spPr>
          <a:xfrm>
            <a:off x="6350000" y="1350000"/>
            <a:ext cx="5150000" cy="2900000"/>
          </a:xfrm>
          <a:prstGeom prst="roundRect">
            <a:avLst/>
          </a:prstGeom>
          <a:solidFill>
            <a:srgbClr val="EAF7FF"/>
          </a:solidFill>
          <a:ln>
            <a:solidFill>
              <a:srgbClr val="55C8FF"/>
            </a:solidFill>
          </a:ln>
        </p:spPr>
        <p:txBody>
          <a:bodyPr lIns="250000" tIns="180000" rIns="250000" bIns="180000"/>
          <a:lstStyle/>
          <a:p>
            <a:r>
              <a:rPr sz="2300" b="1">
                <a:solidFill>
                  <a:srgbClr val="147CC1"/>
                </a:solidFill>
              </a:rPr>
              <a:t>App 使用流程</a:t>
            </a:r>
          </a:p>
          <a:p>
            <a:r>
              <a:rPr sz="1900">
                <a:solidFill>
                  <a:srgbClr val="102840"/>
                </a:solidFill>
              </a:rPr>
              <a:t>1　首頁與每日飲水進度</a:t>
            </a:r>
          </a:p>
          <a:p>
            <a:r>
              <a:rPr sz="1900">
                <a:solidFill>
                  <a:srgbClr val="102840"/>
                </a:solidFill>
              </a:rPr>
              <a:t>2　BLE 掃描與裝置綁定</a:t>
            </a:r>
          </a:p>
          <a:p>
            <a:r>
              <a:rPr sz="1900">
                <a:solidFill>
                  <a:srgbClr val="102840"/>
                </a:solidFill>
              </a:rPr>
              <a:t>3　選擇 2.4 GHz Wi-Fi 並完成配網</a:t>
            </a:r>
          </a:p>
          <a:p>
            <a:r>
              <a:rPr sz="1900">
                <a:solidFill>
                  <a:srgbClr val="102840"/>
                </a:solidFill>
              </a:rPr>
              <a:t>4　即時重量與飲水狀態</a:t>
            </a:r>
          </a:p>
          <a:p>
            <a:r>
              <a:rPr sz="1900">
                <a:solidFill>
                  <a:srgbClr val="102840"/>
                </a:solidFill>
              </a:rPr>
              <a:t>5　飲水紀錄、趨勢與個人設定</a:t>
            </a:r>
          </a:p>
        </p:txBody>
      </p:sp>
      <p:sp>
        <p:nvSpPr>
          <p:cNvPr id="7" name="可點擊原型網址">
            <a:hlinkClick r:id="rId4"/>
            <a:extLst>
              <a:ext uri="{FF2B5EF4-FFF2-40B4-BE49-F238E27FC236}">
                <a16:creationId xmlns:a16="http://schemas.microsoft.com/office/drawing/2014/main" id="{2D8C564C-5DDC-4066-8743-0D03D11EAE43}"/>
              </a:ext>
            </a:extLst>
          </p:cNvPr>
          <p:cNvSpPr>
            <a:spLocks noGrp="1"/>
          </p:cNvSpPr>
          <p:nvPr/>
        </p:nvSpPr>
        <p:spPr>
          <a:xfrm>
            <a:off x="6350000" y="4580000"/>
            <a:ext cx="5150000" cy="1009240"/>
          </a:xfrm>
          <a:prstGeom prst="roundRect">
            <a:avLst/>
          </a:prstGeom>
          <a:solidFill>
            <a:srgbClr val="147CC1"/>
          </a:solidFill>
          <a:ln>
            <a:noFill/>
          </a:ln>
        </p:spPr>
        <p:txBody>
          <a:bodyPr lIns="180000" rIns="180000"/>
          <a:lstStyle/>
          <a:p>
            <a:pPr algn="ctr">
              <a:buNone/>
            </a:pPr>
            <a:r>
              <a:rPr sz="1900" b="1" dirty="0" err="1">
                <a:solidFill>
                  <a:srgbClr val="FFFFFF"/>
                </a:solidFill>
                <a:hlinkClick r:id="rId4"/>
              </a:rPr>
              <a:t>開啟</a:t>
            </a:r>
            <a:r>
              <a:rPr sz="1900" b="1" dirty="0">
                <a:solidFill>
                  <a:srgbClr val="FFFFFF"/>
                </a:solidFill>
                <a:hlinkClick r:id="rId4"/>
              </a:rPr>
              <a:t> Google Stitch UI／UX Prototype</a:t>
            </a:r>
          </a:p>
          <a:p>
            <a:pPr algn="ctr">
              <a:buNone/>
            </a:pPr>
            <a:r>
              <a:rPr sz="1050" dirty="0">
                <a:solidFill>
                  <a:srgbClr val="D5E8F5"/>
                </a:solidFill>
                <a:hlinkClick r:id="rId4"/>
              </a:rPr>
              <a:t>https://stitch.withgoogle.com/preview/7871356781278936772?node-id=61a973ebf567437aaab41de1e43c8d2a</a:t>
            </a:r>
          </a:p>
        </p:txBody>
      </p:sp>
      <p:sp>
        <p:nvSpPr>
          <p:cNvPr id="8" name="提示">
            <a:extLst>
              <a:ext uri="{FF2B5EF4-FFF2-40B4-BE49-F238E27FC236}">
                <a16:creationId xmlns:a16="http://schemas.microsoft.com/office/drawing/2014/main" id="{7C11C443-A858-481B-8E7A-95F981CEB82E}"/>
              </a:ext>
            </a:extLst>
          </p:cNvPr>
          <p:cNvSpPr>
            <a:spLocks noGrp="1"/>
          </p:cNvSpPr>
          <p:nvPr/>
        </p:nvSpPr>
        <p:spPr>
          <a:xfrm>
            <a:off x="6350000" y="5720000"/>
            <a:ext cx="5150000" cy="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buNone/>
            </a:pPr>
            <a:r>
              <a:rPr sz="1600" b="1" dirty="0" err="1">
                <a:solidFill>
                  <a:srgbClr val="55C8FF"/>
                </a:solidFill>
              </a:rPr>
              <a:t>手機掃描左側</a:t>
            </a:r>
            <a:r>
              <a:rPr sz="1600" b="1" dirty="0">
                <a:solidFill>
                  <a:srgbClr val="55C8FF"/>
                </a:solidFill>
              </a:rPr>
              <a:t> QR </a:t>
            </a:r>
            <a:r>
              <a:rPr sz="1600" b="1" dirty="0" err="1">
                <a:solidFill>
                  <a:srgbClr val="55C8FF"/>
                </a:solidFill>
              </a:rPr>
              <a:t>Code，即可操作互動原型</a:t>
            </a:r>
            <a:r>
              <a:rPr lang="en-US" sz="1600" b="1" dirty="0">
                <a:solidFill>
                  <a:srgbClr val="55C8FF"/>
                </a:solidFill>
              </a:rPr>
              <a:t>(</a:t>
            </a:r>
            <a:r>
              <a:rPr lang="zh-TW" altLang="en-US" sz="1600" b="1" dirty="0">
                <a:solidFill>
                  <a:srgbClr val="55C8FF"/>
                </a:solidFill>
              </a:rPr>
              <a:t>需登入</a:t>
            </a:r>
            <a:r>
              <a:rPr lang="en-US" altLang="zh-TW" sz="1600" b="1" dirty="0">
                <a:solidFill>
                  <a:srgbClr val="55C8FF"/>
                </a:solidFill>
              </a:rPr>
              <a:t>GOOGLE</a:t>
            </a:r>
            <a:r>
              <a:rPr lang="zh-TW" altLang="en-US" sz="1600" b="1" dirty="0">
                <a:solidFill>
                  <a:srgbClr val="55C8FF"/>
                </a:solidFill>
              </a:rPr>
              <a:t>服務</a:t>
            </a:r>
            <a:r>
              <a:rPr lang="en-US" altLang="zh-TW" sz="1600" b="1" dirty="0">
                <a:solidFill>
                  <a:srgbClr val="55C8FF"/>
                </a:solidFill>
              </a:rPr>
              <a:t>)</a:t>
            </a:r>
            <a:endParaRPr sz="1600" b="1" dirty="0">
              <a:solidFill>
                <a:srgbClr val="55C8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98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BA722-709B-4A3A-8D00-616BE197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實驗結果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3F6392-4F9B-4238-BAF6-E0178D56A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2050503"/>
            <a:ext cx="9134391" cy="4114801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MusicBox溫溼度資料顯示在OLED顯示器</a:t>
            </a:r>
          </a:p>
          <a:p>
            <a:pPr lvl="0">
              <a:buNone/>
            </a:pPr>
            <a:r>
              <a:t>透過MQTT發送溫溼度資料至資料庫</a:t>
            </a:r>
          </a:p>
          <a:p>
            <a:pPr lvl="0">
              <a:buNone/>
            </a:pPr>
            <a:r>
              <a:t>網頁、手機APP連上Server資料庫取得最新數據</a:t>
            </a:r>
          </a:p>
          <a:p>
            <a:pPr lvl="0">
              <a:buNone/>
            </a:pPr>
            <a:r>
              <a:t>網頁透過MQTT傳遞訊息來控制除濕機的開關</a:t>
            </a:r>
          </a:p>
          <a:p>
            <a:pPr lvl="0">
              <a:buNone/>
            </a:pPr>
            <a:r>
              <a:t>APP透過switch可改變資料庫on/off的狀態</a:t>
            </a:r>
          </a:p>
          <a:p>
            <a:pPr lvl="0">
              <a:buNone/>
            </a:pPr>
            <a:r>
              <a:t>開啟音箱播放音樂。</a:t>
            </a:r>
          </a:p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69A13E-0303-4839-9353-9C925454BA6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</p:spPr>
        <p:txBody>
          <a:bodyPr/>
          <a:lstStyle/>
          <a:p>
            <a:fld id="{2A013F82-EE5E-44EE-A61D-E31C6657F26F}" type="slidenum">
              <a:rPr/>
              <a:t>15</a:t>
            </a:fld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9207CE-2125-44D5-AA83-B6F0AD052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185B1D-76BF-4269-B234-9BE8D6C1D6D0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實驗結果與驗證項目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8B5B6-3618-4F9B-85EC-D01F6D4A5D94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D3390-B859-482E-B699-41FEB36CAB6C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124ABA-1A6F-4DBC-8C7D-F1AEFCE6FB30}"/>
              </a:ext>
            </a:extLst>
          </p:cNvPr>
          <p:cNvSpPr>
            <a:spLocks noGrp="1"/>
          </p:cNvSpPr>
          <p:nvPr/>
        </p:nvSpPr>
        <p:spPr>
          <a:xfrm>
            <a:off x="704850" y="1276350"/>
            <a:ext cx="243840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8D1EB6-DCAB-4DA0-B564-10D06E5CC8D1}"/>
              </a:ext>
            </a:extLst>
          </p:cNvPr>
          <p:cNvSpPr>
            <a:spLocks noGrp="1"/>
          </p:cNvSpPr>
          <p:nvPr/>
        </p:nvSpPr>
        <p:spPr>
          <a:xfrm>
            <a:off x="781050" y="1333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驗證項目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DDCC47-4CC7-4677-B420-4FF477DB6259}"/>
              </a:ext>
            </a:extLst>
          </p:cNvPr>
          <p:cNvSpPr>
            <a:spLocks noGrp="1"/>
          </p:cNvSpPr>
          <p:nvPr/>
        </p:nvSpPr>
        <p:spPr>
          <a:xfrm>
            <a:off x="3143250" y="1276350"/>
            <a:ext cx="190500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C8F3AD-136A-4453-988E-B36B3B566BA1}"/>
              </a:ext>
            </a:extLst>
          </p:cNvPr>
          <p:cNvSpPr>
            <a:spLocks noGrp="1"/>
          </p:cNvSpPr>
          <p:nvPr/>
        </p:nvSpPr>
        <p:spPr>
          <a:xfrm>
            <a:off x="3219450" y="133350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目前狀態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260E9C-9DF4-4E90-A5C1-61163AA58961}"/>
              </a:ext>
            </a:extLst>
          </p:cNvPr>
          <p:cNvSpPr>
            <a:spLocks noGrp="1"/>
          </p:cNvSpPr>
          <p:nvPr/>
        </p:nvSpPr>
        <p:spPr>
          <a:xfrm>
            <a:off x="5048250" y="1276350"/>
            <a:ext cx="638175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E8B30B-B460-4DD6-A110-A1B23EA93006}"/>
              </a:ext>
            </a:extLst>
          </p:cNvPr>
          <p:cNvSpPr>
            <a:spLocks noGrp="1"/>
          </p:cNvSpPr>
          <p:nvPr/>
        </p:nvSpPr>
        <p:spPr>
          <a:xfrm>
            <a:off x="5124450" y="1333500"/>
            <a:ext cx="622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驗證方式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0881B8-875A-413A-B5DB-7085BF0D024D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24384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DE3F6D-74EC-4DA8-BCC6-73CDE86E4C90}"/>
              </a:ext>
            </a:extLst>
          </p:cNvPr>
          <p:cNvSpPr>
            <a:spLocks noGrp="1"/>
          </p:cNvSpPr>
          <p:nvPr/>
        </p:nvSpPr>
        <p:spPr>
          <a:xfrm>
            <a:off x="800100" y="180022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重量校正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095710-6363-4186-8D88-441A753F3ED5}"/>
              </a:ext>
            </a:extLst>
          </p:cNvPr>
          <p:cNvSpPr>
            <a:spLocks noGrp="1"/>
          </p:cNvSpPr>
          <p:nvPr/>
        </p:nvSpPr>
        <p:spPr>
          <a:xfrm>
            <a:off x="3143250" y="1733550"/>
            <a:ext cx="19050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F5D214-358E-4573-80BC-A921710AF76D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已完成流程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46A546-A840-4EAD-9087-2181D342DE32}"/>
              </a:ext>
            </a:extLst>
          </p:cNvPr>
          <p:cNvSpPr>
            <a:spLocks noGrp="1"/>
          </p:cNvSpPr>
          <p:nvPr/>
        </p:nvSpPr>
        <p:spPr>
          <a:xfrm>
            <a:off x="5048250" y="1733550"/>
            <a:ext cx="638175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3B9AAB-702A-4DFD-A8F0-63B313EB6BE5}"/>
              </a:ext>
            </a:extLst>
          </p:cNvPr>
          <p:cNvSpPr>
            <a:spLocks noGrp="1"/>
          </p:cNvSpPr>
          <p:nvPr/>
        </p:nvSpPr>
        <p:spPr>
          <a:xfrm>
            <a:off x="5143500" y="180022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以已知砝碼求校正係數，確認正負方向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995D95-751A-4B24-8ECE-3BB14628B55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4384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A5C787-9449-4ADC-B4BE-D194ACBB16BB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穩定判斷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6BDD2E-D0ED-494D-B724-D7C8EE7C276F}"/>
              </a:ext>
            </a:extLst>
          </p:cNvPr>
          <p:cNvSpPr>
            <a:spLocks noGrp="1"/>
          </p:cNvSpPr>
          <p:nvPr/>
        </p:nvSpPr>
        <p:spPr>
          <a:xfrm>
            <a:off x="3143250" y="2400300"/>
            <a:ext cx="19050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E9E0EC-5CF4-47F7-B3FE-2E3FF18D0A43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已完成流程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7C8BEF-6D74-4316-ABD6-0B836CD663F9}"/>
              </a:ext>
            </a:extLst>
          </p:cNvPr>
          <p:cNvSpPr>
            <a:spLocks noGrp="1"/>
          </p:cNvSpPr>
          <p:nvPr/>
        </p:nvSpPr>
        <p:spPr>
          <a:xfrm>
            <a:off x="5048250" y="2400300"/>
            <a:ext cx="638175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6667BD-9CE0-4B93-B294-BB3346374DB6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重量連續落在容許誤差內才進入下一狀態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612486-90F5-40A2-A100-E4E3094D1144}"/>
              </a:ext>
            </a:extLst>
          </p:cNvPr>
          <p:cNvSpPr>
            <a:spLocks noGrp="1"/>
          </p:cNvSpPr>
          <p:nvPr/>
        </p:nvSpPr>
        <p:spPr>
          <a:xfrm>
            <a:off x="704850" y="3067050"/>
            <a:ext cx="24384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C524E9-DFAC-4F71-BE59-902923424A01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自動飲水量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7293E5-26D2-415B-9EE3-C0538B7F63C5}"/>
              </a:ext>
            </a:extLst>
          </p:cNvPr>
          <p:cNvSpPr>
            <a:spLocks noGrp="1"/>
          </p:cNvSpPr>
          <p:nvPr/>
        </p:nvSpPr>
        <p:spPr>
          <a:xfrm>
            <a:off x="3143250" y="3067050"/>
            <a:ext cx="19050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0AF6FD-CF07-4FA8-8BBF-F65F835FA961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C65E00"/>
                </a:solidFill>
              </a:defRPr>
            </a:pPr>
            <a:r>
              <a:rPr sz="1275" b="0">
                <a:solidFill>
                  <a:srgbClr val="C65E00"/>
                </a:solidFill>
              </a:rPr>
              <a:t>待實測填值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2F7B84-4A14-4F51-9CCD-77199EE9F367}"/>
              </a:ext>
            </a:extLst>
          </p:cNvPr>
          <p:cNvSpPr>
            <a:spLocks noGrp="1"/>
          </p:cNvSpPr>
          <p:nvPr/>
        </p:nvSpPr>
        <p:spPr>
          <a:xfrm>
            <a:off x="5048250" y="3067050"/>
            <a:ext cx="638175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9F587E-F1EA-457B-84A8-925F7778D06C}"/>
              </a:ext>
            </a:extLst>
          </p:cNvPr>
          <p:cNvSpPr>
            <a:spLocks noGrp="1"/>
          </p:cNvSpPr>
          <p:nvPr/>
        </p:nvSpPr>
        <p:spPr>
          <a:xfrm>
            <a:off x="5143500" y="313372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驗證不同飲水量與重複放回的誤差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A2296-73F9-4CC9-B81F-5D5E29B5EA57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24384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159738-860D-482D-91BA-0E197BD15AC8}"/>
              </a:ext>
            </a:extLst>
          </p:cNvPr>
          <p:cNvSpPr>
            <a:spLocks noGrp="1"/>
          </p:cNvSpPr>
          <p:nvPr/>
        </p:nvSpPr>
        <p:spPr>
          <a:xfrm>
            <a:off x="800100" y="380047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BLE 配網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2BDF24-2862-48D7-8BF5-D42BD8866D29}"/>
              </a:ext>
            </a:extLst>
          </p:cNvPr>
          <p:cNvSpPr>
            <a:spLocks noGrp="1"/>
          </p:cNvSpPr>
          <p:nvPr/>
        </p:nvSpPr>
        <p:spPr>
          <a:xfrm>
            <a:off x="3143250" y="3733800"/>
            <a:ext cx="19050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B9B86DC-F4BF-41DF-BE16-75EBCFF20FCB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已完成流程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74247F1-C615-4AE4-B3AA-78ED53735770}"/>
              </a:ext>
            </a:extLst>
          </p:cNvPr>
          <p:cNvSpPr>
            <a:spLocks noGrp="1"/>
          </p:cNvSpPr>
          <p:nvPr/>
        </p:nvSpPr>
        <p:spPr>
          <a:xfrm>
            <a:off x="5048250" y="3733800"/>
            <a:ext cx="638175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311CF7-D109-4334-BC32-10517096DE61}"/>
              </a:ext>
            </a:extLst>
          </p:cNvPr>
          <p:cNvSpPr>
            <a:spLocks noGrp="1"/>
          </p:cNvSpPr>
          <p:nvPr/>
        </p:nvSpPr>
        <p:spPr>
          <a:xfrm>
            <a:off x="5143500" y="380047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掃描、綁定、傳送 2.4 GHz SSID／密碼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B68130-E3F2-4FEC-BE21-6B622805D2AB}"/>
              </a:ext>
            </a:extLst>
          </p:cNvPr>
          <p:cNvSpPr>
            <a:spLocks noGrp="1"/>
          </p:cNvSpPr>
          <p:nvPr/>
        </p:nvSpPr>
        <p:spPr>
          <a:xfrm>
            <a:off x="704850" y="4400550"/>
            <a:ext cx="24384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598F4C0-A6B2-49B3-8C35-81AE4460434D}"/>
              </a:ext>
            </a:extLst>
          </p:cNvPr>
          <p:cNvSpPr>
            <a:spLocks noGrp="1"/>
          </p:cNvSpPr>
          <p:nvPr/>
        </p:nvSpPr>
        <p:spPr>
          <a:xfrm>
            <a:off x="800100" y="446722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MQTT 同步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6F44E9C-4A2B-4A0E-BEEA-4DFA5E0F2E10}"/>
              </a:ext>
            </a:extLst>
          </p:cNvPr>
          <p:cNvSpPr>
            <a:spLocks noGrp="1"/>
          </p:cNvSpPr>
          <p:nvPr/>
        </p:nvSpPr>
        <p:spPr>
          <a:xfrm>
            <a:off x="3143250" y="4400550"/>
            <a:ext cx="190500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837DE0E-A307-469E-BABC-A1F04159D299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已完成流程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68C819-385C-4BCA-B227-866BA05E9BE5}"/>
              </a:ext>
            </a:extLst>
          </p:cNvPr>
          <p:cNvSpPr>
            <a:spLocks noGrp="1"/>
          </p:cNvSpPr>
          <p:nvPr/>
        </p:nvSpPr>
        <p:spPr>
          <a:xfrm>
            <a:off x="5048250" y="4400550"/>
            <a:ext cx="6381750" cy="66675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C2BDDD-D1FF-4531-92BF-CAF042EDEE8C}"/>
              </a:ext>
            </a:extLst>
          </p:cNvPr>
          <p:cNvSpPr>
            <a:spLocks noGrp="1"/>
          </p:cNvSpPr>
          <p:nvPr/>
        </p:nvSpPr>
        <p:spPr>
          <a:xfrm>
            <a:off x="5143500" y="446722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確認 App／Web 接收狀態與飲水紀錄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BEC49C4-F54D-466F-BF41-CC3F30AD42B9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24384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F3CC7FB-2AEA-41AD-9B83-AD053ADEA5FC}"/>
              </a:ext>
            </a:extLst>
          </p:cNvPr>
          <p:cNvSpPr>
            <a:spLocks noGrp="1"/>
          </p:cNvSpPr>
          <p:nvPr/>
        </p:nvSpPr>
        <p:spPr>
          <a:xfrm>
            <a:off x="800100" y="513397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02840"/>
                </a:solidFill>
              </a:defRPr>
            </a:pPr>
            <a:r>
              <a:rPr sz="1275" b="1">
                <a:solidFill>
                  <a:srgbClr val="102840"/>
                </a:solidFill>
              </a:rPr>
              <a:t>長時間穩定性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3FC1D9A-F9CC-44D7-94EB-72FFB57FB536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190500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BBB59DD-B903-49B3-9F73-F8BB87777852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C65E00"/>
                </a:solidFill>
              </a:defRPr>
            </a:pPr>
            <a:r>
              <a:rPr sz="1275" b="0">
                <a:solidFill>
                  <a:srgbClr val="C65E00"/>
                </a:solidFill>
              </a:rPr>
              <a:t>待實測填值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4D67F0-71A8-4344-86DE-E115E118C825}"/>
              </a:ext>
            </a:extLst>
          </p:cNvPr>
          <p:cNvSpPr>
            <a:spLocks noGrp="1"/>
          </p:cNvSpPr>
          <p:nvPr/>
        </p:nvSpPr>
        <p:spPr>
          <a:xfrm>
            <a:off x="5048250" y="5067300"/>
            <a:ext cx="6381750" cy="66675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31B1B26-3EFC-4605-BCEE-A9DD012ADA83}"/>
              </a:ext>
            </a:extLst>
          </p:cNvPr>
          <p:cNvSpPr>
            <a:spLocks noGrp="1"/>
          </p:cNvSpPr>
          <p:nvPr/>
        </p:nvSpPr>
        <p:spPr>
          <a:xfrm>
            <a:off x="5143500" y="5133975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02840"/>
                </a:solidFill>
              </a:defRPr>
            </a:pPr>
            <a:r>
              <a:rPr sz="1275" b="0">
                <a:solidFill>
                  <a:srgbClr val="102840"/>
                </a:solidFill>
              </a:rPr>
              <a:t>斷線重連、斷電保存與連續運轉測試</a:t>
            </a:r>
          </a:p>
        </p:txBody>
      </p:sp>
    </p:spTree>
    <p:extLst>
      <p:ext uri="{BB962C8B-B14F-4D97-AF65-F5344CB8AC3E}">
        <p14:creationId xmlns:p14="http://schemas.microsoft.com/office/powerpoint/2010/main" val="2591338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示範影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204" y="116632"/>
            <a:ext cx="3548993" cy="630932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66BBA0-702F-43C4-952A-AE283A7EB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A013F82-EE5E-44EE-A61D-E31C6657F26F}" type="slidenum">
              <a:rPr/>
              <a:t>16</a:t>
            </a:fld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575D74-E261-4DD3-B7EE-591B9E798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D36F13-0C14-4B7D-A68A-CA2EFFF57F2D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技術選型｜每一層選擇最合適的工具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6B6687-DF13-4957-8DD3-59FA65B6F4E8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5FE881-8C82-40A3-AF00-06FF3BF5D420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F5FD2F-66A4-46CC-92A2-B56067E57DB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00025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FC3F36-6D61-4F8E-8E09-A5056B1C01DF}"/>
              </a:ext>
            </a:extLst>
          </p:cNvPr>
          <p:cNvSpPr>
            <a:spLocks noGrp="1"/>
          </p:cNvSpPr>
          <p:nvPr/>
        </p:nvSpPr>
        <p:spPr>
          <a:xfrm>
            <a:off x="723900" y="1295400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層級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2D09FA-0F60-4BA4-86B7-31E14E948BF3}"/>
              </a:ext>
            </a:extLst>
          </p:cNvPr>
          <p:cNvSpPr>
            <a:spLocks noGrp="1"/>
          </p:cNvSpPr>
          <p:nvPr/>
        </p:nvSpPr>
        <p:spPr>
          <a:xfrm>
            <a:off x="2647950" y="1238250"/>
            <a:ext cx="278130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D2E919-6169-4424-87F1-30BF79BAE824}"/>
              </a:ext>
            </a:extLst>
          </p:cNvPr>
          <p:cNvSpPr>
            <a:spLocks noGrp="1"/>
          </p:cNvSpPr>
          <p:nvPr/>
        </p:nvSpPr>
        <p:spPr>
          <a:xfrm>
            <a:off x="2724150" y="1295400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選用技術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F079BB-EBB7-4E34-BA33-0FF737EC0462}"/>
              </a:ext>
            </a:extLst>
          </p:cNvPr>
          <p:cNvSpPr>
            <a:spLocks noGrp="1"/>
          </p:cNvSpPr>
          <p:nvPr/>
        </p:nvSpPr>
        <p:spPr>
          <a:xfrm>
            <a:off x="5429250" y="1238250"/>
            <a:ext cx="6096000" cy="457200"/>
          </a:xfrm>
          <a:prstGeom prst="rect">
            <a:avLst/>
          </a:prstGeom>
          <a:solidFill>
            <a:srgbClr val="147CC1"/>
          </a:solidFill>
          <a:ln w="14288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A0B6F7-DD79-43DE-8DB6-1631C8FC8989}"/>
              </a:ext>
            </a:extLst>
          </p:cNvPr>
          <p:cNvSpPr>
            <a:spLocks noGrp="1"/>
          </p:cNvSpPr>
          <p:nvPr/>
        </p:nvSpPr>
        <p:spPr>
          <a:xfrm>
            <a:off x="5505450" y="1295400"/>
            <a:ext cx="594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選用原因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4D1C17-5DE7-40C6-AAFD-92440B36CFD5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200025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DD7CAE-5C75-4AAA-B59F-C9DEFAFF072D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感測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80F901-CA82-4F60-BE19-EAB395DAE31B}"/>
              </a:ext>
            </a:extLst>
          </p:cNvPr>
          <p:cNvSpPr>
            <a:spLocks noGrp="1"/>
          </p:cNvSpPr>
          <p:nvPr/>
        </p:nvSpPr>
        <p:spPr>
          <a:xfrm>
            <a:off x="2647950" y="1695450"/>
            <a:ext cx="27813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E5FAC8-29B3-43EF-A33E-3E89D63628A8}"/>
              </a:ext>
            </a:extLst>
          </p:cNvPr>
          <p:cNvSpPr>
            <a:spLocks noGrp="1"/>
          </p:cNvSpPr>
          <p:nvPr/>
        </p:nvSpPr>
        <p:spPr>
          <a:xfrm>
            <a:off x="2743200" y="17526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荷重元＋HX711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A2A99A-1C33-426C-8CC3-7EC496234460}"/>
              </a:ext>
            </a:extLst>
          </p:cNvPr>
          <p:cNvSpPr>
            <a:spLocks noGrp="1"/>
          </p:cNvSpPr>
          <p:nvPr/>
        </p:nvSpPr>
        <p:spPr>
          <a:xfrm>
            <a:off x="5429250" y="1695450"/>
            <a:ext cx="60960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0FADF9-74CB-4DA9-8446-3A9E95A5AE6A}"/>
              </a:ext>
            </a:extLst>
          </p:cNvPr>
          <p:cNvSpPr>
            <a:spLocks noGrp="1"/>
          </p:cNvSpPr>
          <p:nvPr/>
        </p:nvSpPr>
        <p:spPr>
          <a:xfrm>
            <a:off x="5524500" y="17526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微小重量訊號、24-bit ADC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019EBB-CF30-4019-B5B5-BE88ABA88AA9}"/>
              </a:ext>
            </a:extLst>
          </p:cNvPr>
          <p:cNvSpPr>
            <a:spLocks noGrp="1"/>
          </p:cNvSpPr>
          <p:nvPr/>
        </p:nvSpPr>
        <p:spPr>
          <a:xfrm>
            <a:off x="647700" y="2305050"/>
            <a:ext cx="200025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1ACAD2-ABC4-4D72-803F-91F7AEA660C9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控制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0CA109-D9D9-4F53-9BFD-9026B1379B15}"/>
              </a:ext>
            </a:extLst>
          </p:cNvPr>
          <p:cNvSpPr>
            <a:spLocks noGrp="1"/>
          </p:cNvSpPr>
          <p:nvPr/>
        </p:nvSpPr>
        <p:spPr>
          <a:xfrm>
            <a:off x="2647950" y="2305050"/>
            <a:ext cx="27813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4003228-9A68-4C5A-99CB-1F8EE09675D1}"/>
              </a:ext>
            </a:extLst>
          </p:cNvPr>
          <p:cNvSpPr>
            <a:spLocks noGrp="1"/>
          </p:cNvSpPr>
          <p:nvPr/>
        </p:nvSpPr>
        <p:spPr>
          <a:xfrm>
            <a:off x="2743200" y="23622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ESP32-S UNO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857C23-103B-44F3-B7CD-DE18A7426400}"/>
              </a:ext>
            </a:extLst>
          </p:cNvPr>
          <p:cNvSpPr>
            <a:spLocks noGrp="1"/>
          </p:cNvSpPr>
          <p:nvPr/>
        </p:nvSpPr>
        <p:spPr>
          <a:xfrm>
            <a:off x="5429250" y="2305050"/>
            <a:ext cx="60960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1F9210-B868-419C-AC97-5DE6B439F1A5}"/>
              </a:ext>
            </a:extLst>
          </p:cNvPr>
          <p:cNvSpPr>
            <a:spLocks noGrp="1"/>
          </p:cNvSpPr>
          <p:nvPr/>
        </p:nvSpPr>
        <p:spPr>
          <a:xfrm>
            <a:off x="5524500" y="23622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整合 Wi‑Fi、BLE、GPIO 與運算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B0D9EF-97B7-4F73-AEDE-AA486584C954}"/>
              </a:ext>
            </a:extLst>
          </p:cNvPr>
          <p:cNvSpPr>
            <a:spLocks noGrp="1"/>
          </p:cNvSpPr>
          <p:nvPr/>
        </p:nvSpPr>
        <p:spPr>
          <a:xfrm>
            <a:off x="647700" y="2914650"/>
            <a:ext cx="200025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3FA09F-02BC-414B-8AE3-D18FBFEE7A64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韌體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4338FA-7B81-4D96-8FDC-A9CB28B65F5C}"/>
              </a:ext>
            </a:extLst>
          </p:cNvPr>
          <p:cNvSpPr>
            <a:spLocks noGrp="1"/>
          </p:cNvSpPr>
          <p:nvPr/>
        </p:nvSpPr>
        <p:spPr>
          <a:xfrm>
            <a:off x="2647950" y="2914650"/>
            <a:ext cx="27813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20215F-9562-4824-9325-CFE46535CEF3}"/>
              </a:ext>
            </a:extLst>
          </p:cNvPr>
          <p:cNvSpPr>
            <a:spLocks noGrp="1"/>
          </p:cNvSpPr>
          <p:nvPr/>
        </p:nvSpPr>
        <p:spPr>
          <a:xfrm>
            <a:off x="2743200" y="29718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Arduino IDE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B31AA4-9090-4790-865D-5666FEB04FA6}"/>
              </a:ext>
            </a:extLst>
          </p:cNvPr>
          <p:cNvSpPr>
            <a:spLocks noGrp="1"/>
          </p:cNvSpPr>
          <p:nvPr/>
        </p:nvSpPr>
        <p:spPr>
          <a:xfrm>
            <a:off x="5429250" y="2914650"/>
            <a:ext cx="60960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745773-C1EF-4921-AED6-A297FBC6D414}"/>
              </a:ext>
            </a:extLst>
          </p:cNvPr>
          <p:cNvSpPr>
            <a:spLocks noGrp="1"/>
          </p:cNvSpPr>
          <p:nvPr/>
        </p:nvSpPr>
        <p:spPr>
          <a:xfrm>
            <a:off x="5524500" y="29718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函式庫完整，快速驗證硬體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D7D23B-D6F6-4CBF-A1F0-7B5FA5AFDA39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200025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FF6356-FB08-4BFD-92F6-9B5D7C51CE3C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開發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408BE9-FD25-4872-8D87-2DD9C19E82DF}"/>
              </a:ext>
            </a:extLst>
          </p:cNvPr>
          <p:cNvSpPr>
            <a:spLocks noGrp="1"/>
          </p:cNvSpPr>
          <p:nvPr/>
        </p:nvSpPr>
        <p:spPr>
          <a:xfrm>
            <a:off x="2647950" y="3524250"/>
            <a:ext cx="27813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04E8AD8-98EB-4C8C-833D-313A64587D07}"/>
              </a:ext>
            </a:extLst>
          </p:cNvPr>
          <p:cNvSpPr>
            <a:spLocks noGrp="1"/>
          </p:cNvSpPr>
          <p:nvPr/>
        </p:nvSpPr>
        <p:spPr>
          <a:xfrm>
            <a:off x="2743200" y="35814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VS Code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D280D0C-085E-4231-BF4C-95815F9FE8EC}"/>
              </a:ext>
            </a:extLst>
          </p:cNvPr>
          <p:cNvSpPr>
            <a:spLocks noGrp="1"/>
          </p:cNvSpPr>
          <p:nvPr/>
        </p:nvSpPr>
        <p:spPr>
          <a:xfrm>
            <a:off x="5429250" y="3524250"/>
            <a:ext cx="60960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CC6796-D8C7-4B4F-8BE1-6CA3D89BE602}"/>
              </a:ext>
            </a:extLst>
          </p:cNvPr>
          <p:cNvSpPr>
            <a:spLocks noGrp="1"/>
          </p:cNvSpPr>
          <p:nvPr/>
        </p:nvSpPr>
        <p:spPr>
          <a:xfrm>
            <a:off x="5524500" y="35814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管理 Web、Android、Git 與文件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F50E95-62B9-41E2-B715-1FB1698C3BB0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200025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4EC6922-4C9E-432C-BBA7-8ABC970819F7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近端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CBFCEA9-00A8-423C-916E-921DF1F31EDD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27813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99BD225-D466-4BDD-A664-EF85F1938DD5}"/>
              </a:ext>
            </a:extLst>
          </p:cNvPr>
          <p:cNvSpPr>
            <a:spLocks noGrp="1"/>
          </p:cNvSpPr>
          <p:nvPr/>
        </p:nvSpPr>
        <p:spPr>
          <a:xfrm>
            <a:off x="2743200" y="41910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BLE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BB0207-1AB2-4252-9366-EB30A252E076}"/>
              </a:ext>
            </a:extLst>
          </p:cNvPr>
          <p:cNvSpPr>
            <a:spLocks noGrp="1"/>
          </p:cNvSpPr>
          <p:nvPr/>
        </p:nvSpPr>
        <p:spPr>
          <a:xfrm>
            <a:off x="5429250" y="4133850"/>
            <a:ext cx="60960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E8535EF-51AC-4A2D-90D5-556B750E995A}"/>
              </a:ext>
            </a:extLst>
          </p:cNvPr>
          <p:cNvSpPr>
            <a:spLocks noGrp="1"/>
          </p:cNvSpPr>
          <p:nvPr/>
        </p:nvSpPr>
        <p:spPr>
          <a:xfrm>
            <a:off x="5524500" y="41910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裝置綁定與 Wi‑Fi 配網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5CCBF1E-EB00-4911-BC2D-62AE11F6DCDD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200025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A90D52-26B6-4C41-8FD2-EC3C6BC47380}"/>
              </a:ext>
            </a:extLst>
          </p:cNvPr>
          <p:cNvSpPr>
            <a:spLocks noGrp="1"/>
          </p:cNvSpPr>
          <p:nvPr/>
        </p:nvSpPr>
        <p:spPr>
          <a:xfrm>
            <a:off x="742950" y="48006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遠端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B3571E-C378-4C0A-9885-13E9B605C427}"/>
              </a:ext>
            </a:extLst>
          </p:cNvPr>
          <p:cNvSpPr>
            <a:spLocks noGrp="1"/>
          </p:cNvSpPr>
          <p:nvPr/>
        </p:nvSpPr>
        <p:spPr>
          <a:xfrm>
            <a:off x="2647950" y="4743450"/>
            <a:ext cx="27813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1D75589-7160-4722-8D40-96B7C2B40E30}"/>
              </a:ext>
            </a:extLst>
          </p:cNvPr>
          <p:cNvSpPr>
            <a:spLocks noGrp="1"/>
          </p:cNvSpPr>
          <p:nvPr/>
        </p:nvSpPr>
        <p:spPr>
          <a:xfrm>
            <a:off x="2743200" y="48006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2.4 GHz Wi‑Fi＋MQTT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2918A72-6C6D-4420-B4C6-28F5EE2777F3}"/>
              </a:ext>
            </a:extLst>
          </p:cNvPr>
          <p:cNvSpPr>
            <a:spLocks noGrp="1"/>
          </p:cNvSpPr>
          <p:nvPr/>
        </p:nvSpPr>
        <p:spPr>
          <a:xfrm>
            <a:off x="5429250" y="4743450"/>
            <a:ext cx="6096000" cy="609600"/>
          </a:xfrm>
          <a:prstGeom prst="rect">
            <a:avLst/>
          </a:prstGeom>
          <a:solidFill>
            <a:srgbClr val="F7FB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AAAA4A-E26D-4491-AA93-37BFEB7CEDEB}"/>
              </a:ext>
            </a:extLst>
          </p:cNvPr>
          <p:cNvSpPr>
            <a:spLocks noGrp="1"/>
          </p:cNvSpPr>
          <p:nvPr/>
        </p:nvSpPr>
        <p:spPr>
          <a:xfrm>
            <a:off x="5524500" y="48006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長時間連線、發布／訂閱、多端同步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0F853B4-BA2B-4258-9792-0CEE58189704}"/>
              </a:ext>
            </a:extLst>
          </p:cNvPr>
          <p:cNvSpPr>
            <a:spLocks noGrp="1"/>
          </p:cNvSpPr>
          <p:nvPr/>
        </p:nvSpPr>
        <p:spPr>
          <a:xfrm>
            <a:off x="647700" y="5353050"/>
            <a:ext cx="200025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318FCC1-D6FC-43A9-8EE4-2604798E0BEB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840"/>
                </a:solidFill>
              </a:defRPr>
            </a:pPr>
            <a:r>
              <a:rPr sz="1350" b="1">
                <a:solidFill>
                  <a:srgbClr val="102840"/>
                </a:solidFill>
              </a:rPr>
              <a:t>應用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59FBA48-98C9-4A96-87B9-4C9C23ED63DF}"/>
              </a:ext>
            </a:extLst>
          </p:cNvPr>
          <p:cNvSpPr>
            <a:spLocks noGrp="1"/>
          </p:cNvSpPr>
          <p:nvPr/>
        </p:nvSpPr>
        <p:spPr>
          <a:xfrm>
            <a:off x="2647950" y="5353050"/>
            <a:ext cx="27813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C8CE373-B04E-4D73-B817-398B3C511B78}"/>
              </a:ext>
            </a:extLst>
          </p:cNvPr>
          <p:cNvSpPr>
            <a:spLocks noGrp="1"/>
          </p:cNvSpPr>
          <p:nvPr/>
        </p:nvSpPr>
        <p:spPr>
          <a:xfrm>
            <a:off x="2743200" y="54102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47CC1"/>
                </a:solidFill>
              </a:defRPr>
            </a:pPr>
            <a:r>
              <a:rPr sz="1350" b="1">
                <a:solidFill>
                  <a:srgbClr val="147CC1"/>
                </a:solidFill>
              </a:rPr>
              <a:t>Android＋Web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772CBD4-B75D-49F7-A28C-27C0E7D79ECE}"/>
              </a:ext>
            </a:extLst>
          </p:cNvPr>
          <p:cNvSpPr>
            <a:spLocks noGrp="1"/>
          </p:cNvSpPr>
          <p:nvPr/>
        </p:nvSpPr>
        <p:spPr>
          <a:xfrm>
            <a:off x="5429250" y="5353050"/>
            <a:ext cx="6096000" cy="609600"/>
          </a:xfrm>
          <a:prstGeom prst="rect">
            <a:avLst/>
          </a:prstGeom>
          <a:solidFill>
            <a:srgbClr val="DFF3FF"/>
          </a:solidFill>
          <a:ln w="14288">
            <a:solidFill>
              <a:srgbClr val="9DD8FA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5029238-9C70-40DE-86DF-8A2C7A62BFBB}"/>
              </a:ext>
            </a:extLst>
          </p:cNvPr>
          <p:cNvSpPr>
            <a:spLocks noGrp="1"/>
          </p:cNvSpPr>
          <p:nvPr/>
        </p:nvSpPr>
        <p:spPr>
          <a:xfrm>
            <a:off x="5524500" y="54102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行動通知與跨平台檢視</a:t>
            </a:r>
          </a:p>
        </p:txBody>
      </p:sp>
    </p:spTree>
    <p:extLst>
      <p:ext uri="{BB962C8B-B14F-4D97-AF65-F5344CB8AC3E}">
        <p14:creationId xmlns:p14="http://schemas.microsoft.com/office/powerpoint/2010/main" val="1747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96A95B-878C-4F2D-8E7F-C6F54062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-27384"/>
            <a:ext cx="9144001" cy="1371600"/>
          </a:xfrm>
        </p:spPr>
        <p:txBody>
          <a:bodyPr/>
          <a:lstStyle/>
          <a:p>
            <a:r>
              <a:t>未來方向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584084-0AF3-48CC-A5DB-41D21905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讓資料庫與MusicBox的除濕機狀態一致。</a:t>
            </a:r>
          </a:p>
          <a:p>
            <a:r>
              <a:t>當MusicBox斷電時，透過MQTT發送「除溼機off」給WebServer。</a:t>
            </a:r>
          </a:p>
          <a:p>
            <a:r>
              <a:t>App 利用MQTT傳送指令控制除濕機開關。</a:t>
            </a:r>
          </a:p>
          <a:p>
            <a:r>
              <a:t>介面增加自訂濕度數值功能，使除濕機可自動開關</a:t>
            </a:r>
          </a:p>
          <a:p>
            <a:r>
              <a:t>App 新增音樂播放界面操控MusicBox。</a:t>
            </a:r>
          </a:p>
          <a:p>
            <a:r>
              <a:t>限定WebServer端各個資料表的筆數</a:t>
            </a:r>
          </a:p>
          <a:p>
            <a:r>
              <a:t>增加聯網設備，讓聯網設備能自動通訊，並達到自動控制的效果</a:t>
            </a:r>
          </a:p>
          <a:p>
            <a:r>
              <a:t>建議MQTTserver與Webserver分開建置</a:t>
            </a:r>
          </a:p>
          <a:p>
            <a:r>
              <a:t>MusicBox新增語音功能</a:t>
            </a:r>
          </a:p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7FA29A-66FF-47F4-8E25-5A7D3F6106E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990956" y="6400800"/>
            <a:ext cx="838201" cy="276228"/>
          </a:xfrm>
        </p:spPr>
        <p:txBody>
          <a:bodyPr/>
          <a:lstStyle/>
          <a:p>
            <a:fld id="{2A013F82-EE5E-44EE-A61D-E31C6657F26F}" type="slidenum">
              <a:rPr/>
              <a:t>17</a:t>
            </a:fld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895DFD-C3D3-4A41-8A20-39AE41F926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7929AC-174A-45E8-B98F-8615A3FE037B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未來方向｜從可用原型走向可靠產品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2C5ACE-030A-48DD-AE49-089758286F6D}"/>
              </a:ext>
            </a:extLst>
          </p:cNvPr>
          <p:cNvSpPr>
            <a:spLocks noGrp="1"/>
          </p:cNvSpPr>
          <p:nvPr/>
        </p:nvSpPr>
        <p:spPr>
          <a:xfrm>
            <a:off x="704850" y="1009650"/>
            <a:ext cx="1038225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EDF4C4-B6A5-4287-9222-65067F4AAC3C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15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2FAAC83-54CC-46AD-A48E-8F5FEEA06285}"/>
              </a:ext>
            </a:extLst>
          </p:cNvPr>
          <p:cNvSpPr>
            <a:spLocks noGrp="1"/>
          </p:cNvSpPr>
          <p:nvPr/>
        </p:nvSpPr>
        <p:spPr>
          <a:xfrm>
            <a:off x="723900" y="137160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514C47-4B43-49E7-9880-5500154614AE}"/>
              </a:ext>
            </a:extLst>
          </p:cNvPr>
          <p:cNvSpPr>
            <a:spLocks noGrp="1"/>
          </p:cNvSpPr>
          <p:nvPr/>
        </p:nvSpPr>
        <p:spPr>
          <a:xfrm>
            <a:off x="914400" y="151447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機構整合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30D25C-AA7C-4263-A361-73C17E95C2C8}"/>
              </a:ext>
            </a:extLst>
          </p:cNvPr>
          <p:cNvSpPr>
            <a:spLocks noGrp="1"/>
          </p:cNvSpPr>
          <p:nvPr/>
        </p:nvSpPr>
        <p:spPr>
          <a:xfrm>
            <a:off x="2628900" y="148590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防潑水外殼、荷重元受力位置、線材固定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426BEAD-275D-44B9-AF8D-DD2132733581}"/>
              </a:ext>
            </a:extLst>
          </p:cNvPr>
          <p:cNvSpPr>
            <a:spLocks noGrp="1"/>
          </p:cNvSpPr>
          <p:nvPr/>
        </p:nvSpPr>
        <p:spPr>
          <a:xfrm>
            <a:off x="6286500" y="137160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B4C4A-3BCD-4411-95AA-D42EAB82119F}"/>
              </a:ext>
            </a:extLst>
          </p:cNvPr>
          <p:cNvSpPr>
            <a:spLocks noGrp="1"/>
          </p:cNvSpPr>
          <p:nvPr/>
        </p:nvSpPr>
        <p:spPr>
          <a:xfrm>
            <a:off x="6477000" y="151447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量測品質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80DEF0-340E-46E6-8939-71FF1883EB59}"/>
              </a:ext>
            </a:extLst>
          </p:cNvPr>
          <p:cNvSpPr>
            <a:spLocks noGrp="1"/>
          </p:cNvSpPr>
          <p:nvPr/>
        </p:nvSpPr>
        <p:spPr>
          <a:xfrm>
            <a:off x="8191500" y="148590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多杯型校正、溫漂補償、誤差與重複性報告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B5EDF1C-AF00-44E2-8F89-60DE848C429E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DB6F3C-5BE5-4419-8085-0157BA75BAF4}"/>
              </a:ext>
            </a:extLst>
          </p:cNvPr>
          <p:cNvSpPr>
            <a:spLocks noGrp="1"/>
          </p:cNvSpPr>
          <p:nvPr/>
        </p:nvSpPr>
        <p:spPr>
          <a:xfrm>
            <a:off x="914400" y="29813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App 體驗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063680-4A60-48AE-8868-6508202B7B8E}"/>
              </a:ext>
            </a:extLst>
          </p:cNvPr>
          <p:cNvSpPr>
            <a:spLocks noGrp="1"/>
          </p:cNvSpPr>
          <p:nvPr/>
        </p:nvSpPr>
        <p:spPr>
          <a:xfrm>
            <a:off x="2628900" y="295275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每日目標、提醒、歷史趨勢與多裝置管理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0EAE9EE-EE3C-4C8C-92F3-CB98B98C48FE}"/>
              </a:ext>
            </a:extLst>
          </p:cNvPr>
          <p:cNvSpPr>
            <a:spLocks noGrp="1"/>
          </p:cNvSpPr>
          <p:nvPr/>
        </p:nvSpPr>
        <p:spPr>
          <a:xfrm>
            <a:off x="6286500" y="28384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9BA0CC-FE48-4141-9382-DEC6146FA4F3}"/>
              </a:ext>
            </a:extLst>
          </p:cNvPr>
          <p:cNvSpPr>
            <a:spLocks noGrp="1"/>
          </p:cNvSpPr>
          <p:nvPr/>
        </p:nvSpPr>
        <p:spPr>
          <a:xfrm>
            <a:off x="6477000" y="29813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系統安全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B848DE-788D-4B24-9523-8229B561A004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MQTT 帳密、TLS、權限與敏感資料保護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6DDF04E-E51E-4F84-BC56-C0BB1E8655BC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372EB0-D2BC-4DB5-93F0-021A0DFD8600}"/>
              </a:ext>
            </a:extLst>
          </p:cNvPr>
          <p:cNvSpPr>
            <a:spLocks noGrp="1"/>
          </p:cNvSpPr>
          <p:nvPr/>
        </p:nvSpPr>
        <p:spPr>
          <a:xfrm>
            <a:off x="914400" y="444817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可靠度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402F45-FE61-4D64-9779-107A57324FCF}"/>
              </a:ext>
            </a:extLst>
          </p:cNvPr>
          <p:cNvSpPr>
            <a:spLocks noGrp="1"/>
          </p:cNvSpPr>
          <p:nvPr/>
        </p:nvSpPr>
        <p:spPr>
          <a:xfrm>
            <a:off x="2628900" y="441960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斷線重連、離線緩存、斷電恢復與 Watchdog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AA5D536-B88D-4A08-91CC-3DD1F13E93BE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FF0DC"/>
          </a:solidFill>
          <a:ln w="14288">
            <a:solidFill>
              <a:srgbClr val="79CF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EBABF1-791C-4A26-AC81-6566152D7EE0}"/>
              </a:ext>
            </a:extLst>
          </p:cNvPr>
          <p:cNvSpPr>
            <a:spLocks noGrp="1"/>
          </p:cNvSpPr>
          <p:nvPr/>
        </p:nvSpPr>
        <p:spPr>
          <a:xfrm>
            <a:off x="6477000" y="444817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47CC1"/>
                </a:solidFill>
              </a:defRPr>
            </a:pPr>
            <a:r>
              <a:rPr sz="1725" b="1">
                <a:solidFill>
                  <a:srgbClr val="147CC1"/>
                </a:solidFill>
              </a:rPr>
              <a:t>功能擴充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433164-FBDD-4B56-9B67-40782BD61DA0}"/>
              </a:ext>
            </a:extLst>
          </p:cNvPr>
          <p:cNvSpPr>
            <a:spLocks noGrp="1"/>
          </p:cNvSpPr>
          <p:nvPr/>
        </p:nvSpPr>
        <p:spPr>
          <a:xfrm>
            <a:off x="8191500" y="4419600"/>
            <a:ext cx="276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102840"/>
                </a:solidFill>
              </a:defRPr>
            </a:pPr>
            <a:r>
              <a:rPr sz="1350" b="0">
                <a:solidFill>
                  <a:srgbClr val="102840"/>
                </a:solidFill>
              </a:rPr>
              <a:t>選配 HC-SR04 或其他存在感測器，但不影響標準版</a:t>
            </a:r>
          </a:p>
        </p:txBody>
      </p:sp>
    </p:spTree>
    <p:extLst>
      <p:ext uri="{BB962C8B-B14F-4D97-AF65-F5344CB8AC3E}">
        <p14:creationId xmlns:p14="http://schemas.microsoft.com/office/powerpoint/2010/main" val="3743463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EAFD448-81AF-4ECC-A10C-4A357DD2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868" y="764704"/>
            <a:ext cx="10501806" cy="2895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5400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 for your attention.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5E8AD55E-9639-4991-B0E8-17577C3F7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EE5A5C-DC29-41D1-B866-3C34650B76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AE9D70-DC2A-458C-B397-325E247419A1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3E3493-951C-436E-9E18-1C77BB5EDF10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581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多喝水沒事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B8CE5E-4228-448E-B4A5-F2EE46DAFB97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55C8FF"/>
                </a:solidFill>
              </a:defRPr>
            </a:pPr>
            <a:r>
              <a:rPr sz="2100" b="1">
                <a:solidFill>
                  <a:srgbClr val="55C8FF"/>
                </a:solidFill>
              </a:rPr>
              <a:t>一個水杯墊，完成量測、判斷、同步與紀錄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72C3F3-0530-43DB-BE4C-455041961EB9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Demo：放上水杯 → 拿起飲用 → 放回 → App／Web 顯示本次飲水量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8386A3-C0B7-45EF-A3DC-2082FA69176E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895350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38F67B-D196-4DE6-AAB0-61673CC3E97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D5E8F5"/>
                </a:solidFill>
              </a:defRPr>
            </a:pPr>
            <a:r>
              <a:rPr sz="1650" b="1">
                <a:solidFill>
                  <a:srgbClr val="D5E8F5"/>
                </a:solidFill>
              </a:rPr>
              <a:t>ESP32-S UNO × HX711 × BLE × Wi‑Fi × MQTT × Android × Web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418DA4-D56D-4204-882D-6A6DDB126296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56133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5B82-AA9F-E2C5-9179-19E47165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C79B15A-F4C7-CA6B-9D0A-786725662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868" y="764704"/>
            <a:ext cx="10501806" cy="2895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5400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 for your attention.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85B278BF-CA12-67E5-5F32-FD31D367F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F9CCC0-2D51-7D9A-4C02-91158D40E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A8A428-2E3A-D3C7-ADC5-DB68DF08A30C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7AA25B-7C7B-21AB-B7B5-4BC3103C3FCE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581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lang="zh-TW" altLang="en-US" sz="4050" b="1" dirty="0">
                <a:solidFill>
                  <a:srgbClr val="FFFFFF"/>
                </a:solidFill>
              </a:rPr>
              <a:t>同學評測</a:t>
            </a:r>
            <a:endParaRPr sz="4050" b="1" dirty="0">
              <a:solidFill>
                <a:srgbClr val="FFFF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BE87F1-BEF0-8633-F5E4-B9614D0AA4E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55C8FF"/>
                </a:solidFill>
              </a:defRPr>
            </a:pPr>
            <a:r>
              <a:rPr lang="en-US" sz="2100" b="1" dirty="0">
                <a:solidFill>
                  <a:srgbClr val="55C8FF"/>
                </a:solidFill>
              </a:rPr>
              <a:t> </a:t>
            </a:r>
            <a:endParaRPr sz="2100" b="1" dirty="0">
              <a:solidFill>
                <a:srgbClr val="55C8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ED53D8-DAA8-0C96-2A9C-A86F0095216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FFFFFF"/>
                </a:solidFill>
              </a:defRPr>
            </a:pPr>
            <a:endParaRPr sz="1800" b="0" dirty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2A4BF5-58B0-EF54-C3D0-A4B163892309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895350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4BDA10-1773-B6F3-25ED-F5AD93947C2F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D5E8F5"/>
                </a:solidFill>
              </a:defRPr>
            </a:pPr>
            <a:endParaRPr sz="1650" b="1" dirty="0">
              <a:solidFill>
                <a:srgbClr val="D5E8F5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18D8A1-6067-8266-6144-93C5F229F136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942314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1C2D-B411-DBC2-352F-3CA79E0F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63E77E4-B32B-056C-687D-5486BD82C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868" y="764704"/>
            <a:ext cx="10501806" cy="2895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5400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 for your attention.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02AE2220-DC09-EBDB-E5CE-B5DCA7A8E6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4CB4C-83DB-2DEF-054D-B2AE44B0D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52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9A6589-07FE-DDA4-F090-F12BAC1839D0}"/>
              </a:ext>
            </a:extLst>
          </p:cNvPr>
          <p:cNvSpPr>
            <a:spLocks noGrp="1"/>
          </p:cNvSpPr>
          <p:nvPr/>
        </p:nvSpPr>
        <p:spPr>
          <a:xfrm>
            <a:off x="11258550" y="6362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D5E8F5"/>
                </a:solidFill>
              </a:defRPr>
            </a:pPr>
            <a:r>
              <a:rPr sz="975" b="0">
                <a:solidFill>
                  <a:srgbClr val="D5E8F5"/>
                </a:solidFill>
              </a:rPr>
              <a:t>16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3C92B7-6765-128C-6283-504ED3B7C02A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581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lang="zh-TW" altLang="en-US" sz="4050" b="1" dirty="0">
                <a:solidFill>
                  <a:srgbClr val="FFFFFF"/>
                </a:solidFill>
              </a:rPr>
              <a:t>老師建議</a:t>
            </a:r>
            <a:endParaRPr sz="4050" b="1" dirty="0">
              <a:solidFill>
                <a:srgbClr val="FFFF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99883E-F0F0-DF00-C86D-9853B064EB62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55C8FF"/>
                </a:solidFill>
              </a:defRPr>
            </a:pPr>
            <a:r>
              <a:rPr lang="en-US" sz="2100" b="1" dirty="0">
                <a:solidFill>
                  <a:srgbClr val="55C8FF"/>
                </a:solidFill>
              </a:rPr>
              <a:t> </a:t>
            </a:r>
            <a:endParaRPr sz="2100" b="1" dirty="0">
              <a:solidFill>
                <a:srgbClr val="55C8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BD2EC8-4D59-544A-44BB-529381735E3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FFFFFF"/>
                </a:solidFill>
              </a:defRPr>
            </a:pPr>
            <a:endParaRPr sz="1800" b="0" dirty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CB60F2-8E18-8D4C-23AE-23EC96C787BC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8953500" cy="28575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64EBB5-C89A-EF35-FB83-E4BE33925DBA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D5E8F5"/>
                </a:solidFill>
              </a:defRPr>
            </a:pPr>
            <a:endParaRPr sz="1650" b="1" dirty="0">
              <a:solidFill>
                <a:srgbClr val="D5E8F5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063496-5F6B-BC7F-1590-AF353F6C28FB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870795166"/>
      </p:ext>
    </p:extLst>
  </p:cSld>
  <p:clrMapOvr>
    <a:masterClrMapping/>
  </p:clrMapOvr>
</p:sld>
</file>

<file path=ppt/theme/theme1.xml><?xml version="1.0" encoding="utf-8"?>
<a:theme xmlns:a="http://schemas.openxmlformats.org/drawingml/2006/main" name="數位藍色隧道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Digital Blue Tunne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數位藍色隧道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Digital Blue Tunne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1458</Words>
  <Application>Microsoft Office PowerPoint</Application>
  <DocSecurity>0</DocSecurity>
  <PresentationFormat>自訂</PresentationFormat>
  <Paragraphs>369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Microsoft JhengHei UI</vt:lpstr>
      <vt:lpstr>Microsoft JhengHei</vt:lpstr>
      <vt:lpstr>Arial</vt:lpstr>
      <vt:lpstr>Corbel</vt:lpstr>
      <vt:lpstr>數位藍色隧道 16x9</vt:lpstr>
      <vt:lpstr>多功能智慧喇叭</vt:lpstr>
      <vt:lpstr>人不在家中，也可即時操控家電</vt:lpstr>
      <vt:lpstr>所需材料</vt:lpstr>
      <vt:lpstr>PowerPoint 簡報</vt:lpstr>
      <vt:lpstr>PowerPoint 簡報</vt:lpstr>
      <vt:lpstr>PowerPoint 簡報</vt:lpstr>
      <vt:lpstr>主要流程圖</vt:lpstr>
      <vt:lpstr>PowerPoint 簡報</vt:lpstr>
      <vt:lpstr>MusicBox</vt:lpstr>
      <vt:lpstr>WebServer端</vt:lpstr>
      <vt:lpstr>網頁</vt:lpstr>
      <vt:lpstr>手機APP</vt:lpstr>
      <vt:lpstr>PowerPoint 簡報</vt:lpstr>
      <vt:lpstr>PowerPoint 簡報</vt:lpstr>
      <vt:lpstr>實驗結果</vt:lpstr>
      <vt:lpstr>PowerPoint 簡報</vt:lpstr>
      <vt:lpstr>未來方向</vt:lpstr>
      <vt:lpstr>Thank you for your attention.</vt:lpstr>
      <vt:lpstr>Thank you for your attention.</vt:lpstr>
      <vt:lpstr>Thank you for your attention.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12</cp:revision>
  <dcterms:created xsi:type="dcterms:W3CDTF">2026-09-03T05:50:59Z</dcterms:created>
  <dcterms:modified xsi:type="dcterms:W3CDTF">2026-09-16T08:16:04Z</dcterms:modified>
</cp:coreProperties>
</file>